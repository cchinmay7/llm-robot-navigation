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6"/>
  </p:notesMasterIdLst>
  <p:sldIdLst>
    <p:sldId id="256" r:id="rId5"/>
  </p:sldIdLst>
  <p:sldSz cx="43891200" cy="32918400"/>
  <p:notesSz cx="6858000" cy="9144000"/>
  <p:embeddedFontLst>
    <p:embeddedFont>
      <p:font typeface="Arial Black" panose="020B0604020202020204" pitchFamily="34" charset="0"/>
      <p:regular r:id="rId7"/>
      <p:bold r:id="rId8"/>
    </p:embeddedFont>
    <p:embeddedFont>
      <p:font typeface="Helvetica Neue" panose="02000503000000020004" pitchFamily="2" charset="0"/>
      <p:regular r:id="rId9"/>
      <p:bold r:id="rId10"/>
      <p:italic r:id="rId11"/>
      <p:boldItalic r:id="rId12"/>
    </p:embeddedFont>
    <p:embeddedFont>
      <p:font typeface="Helvetica Neue Light" panose="02000403000000020004" pitchFamily="2" charset="0"/>
      <p:regular r:id="rId13"/>
      <p:bold r:id="rId14"/>
      <p:italic r:id="rId15"/>
      <p:boldItalic r:id="rId16"/>
    </p:embeddedFont>
    <p:embeddedFont>
      <p:font typeface="Trebuchet MS" panose="020B070302020209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ZSoYNWyMrNNzZJN4+F6+9JhiSU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1F3A4E"/>
    <a:srgbClr val="FFFFFF"/>
    <a:srgbClr val="CFE2F3"/>
    <a:srgbClr val="C9DA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134860-6396-457F-BCFD-413EF0D37C1D}">
  <a:tblStyle styleId="{E8134860-6396-457F-BCFD-413EF0D37C1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C825FD7E-C3C1-424B-9BB4-24FADF3CDCE8}"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46"/>
  </p:normalViewPr>
  <p:slideViewPr>
    <p:cSldViewPr snapToGrid="0">
      <p:cViewPr>
        <p:scale>
          <a:sx n="13" d="100"/>
          <a:sy n="13" d="100"/>
        </p:scale>
        <p:origin x="1368" y="784"/>
      </p:cViewPr>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3" Type="http://schemas.openxmlformats.org/officeDocument/2006/relationships/customXml" Target="../customXml/item3.xml"/><Relationship Id="rId21" Type="http://customschemas.google.com/relationships/presentationmetadata" Target="meta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9.fntdata"/><Relationship Id="rId23" Type="http://schemas.openxmlformats.org/officeDocument/2006/relationships/viewProps" Target="viewProp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5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8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 name="Google Shape;3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6x48 template">
  <p:cSld name="36x48 template">
    <p:spTree>
      <p:nvGrpSpPr>
        <p:cNvPr id="1" name="Shape 17"/>
        <p:cNvGrpSpPr/>
        <p:nvPr/>
      </p:nvGrpSpPr>
      <p:grpSpPr>
        <a:xfrm>
          <a:off x="0" y="0"/>
          <a:ext cx="0" cy="0"/>
          <a:chOff x="0" y="0"/>
          <a:chExt cx="0" cy="0"/>
        </a:xfrm>
      </p:grpSpPr>
      <p:sp>
        <p:nvSpPr>
          <p:cNvPr id="18" name="Google Shape;18;p3"/>
          <p:cNvSpPr txBox="1">
            <a:spLocks noGrp="1"/>
          </p:cNvSpPr>
          <p:nvPr>
            <p:ph type="body" idx="1"/>
          </p:nvPr>
        </p:nvSpPr>
        <p:spPr>
          <a:xfrm>
            <a:off x="459674" y="5617998"/>
            <a:ext cx="10056813" cy="8325329"/>
          </a:xfrm>
          <a:prstGeom prst="rect">
            <a:avLst/>
          </a:prstGeom>
          <a:solidFill>
            <a:schemeClr val="lt2"/>
          </a:solidFill>
          <a:ln>
            <a:noFill/>
          </a:ln>
        </p:spPr>
        <p:txBody>
          <a:bodyPr spcFirstLastPara="1" wrap="square" lIns="228575" tIns="228575" rIns="228575" bIns="228575" anchor="t" anchorCtr="0">
            <a:noAutofit/>
          </a:bodyPr>
          <a:lstStyle>
            <a:lvl1pPr marL="457200" marR="0" lvl="0" indent="-228600" algn="l" rtl="0">
              <a:lnSpc>
                <a:spcPct val="100000"/>
              </a:lnSpc>
              <a:spcBef>
                <a:spcPts val="720"/>
              </a:spcBef>
              <a:spcAft>
                <a:spcPts val="0"/>
              </a:spcAft>
              <a:buClr>
                <a:schemeClr val="dk2"/>
              </a:buClr>
              <a:buSzPts val="3600"/>
              <a:buFont typeface="Arial"/>
              <a:buNone/>
              <a:defRPr sz="36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body" idx="2"/>
          </p:nvPr>
        </p:nvSpPr>
        <p:spPr>
          <a:xfrm>
            <a:off x="477825" y="14281762"/>
            <a:ext cx="10050462" cy="615545"/>
          </a:xfrm>
          <a:prstGeom prst="rect">
            <a:avLst/>
          </a:prstGeom>
          <a:solidFill>
            <a:schemeClr val="accent6"/>
          </a:solidFill>
          <a:ln>
            <a:noFill/>
          </a:ln>
        </p:spPr>
        <p:txBody>
          <a:bodyPr spcFirstLastPara="1" wrap="square" lIns="91425" tIns="91425" rIns="91425" bIns="91425" anchor="ctr" anchorCtr="0">
            <a:spAutoFit/>
          </a:bodyPr>
          <a:lstStyle>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body" idx="3"/>
          </p:nvPr>
        </p:nvSpPr>
        <p:spPr>
          <a:xfrm>
            <a:off x="11460161" y="6378481"/>
            <a:ext cx="10048874" cy="892530"/>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body" idx="4"/>
          </p:nvPr>
        </p:nvSpPr>
        <p:spPr>
          <a:xfrm>
            <a:off x="11460162" y="5617998"/>
            <a:ext cx="10048875" cy="615545"/>
          </a:xfrm>
          <a:prstGeom prst="rect">
            <a:avLst/>
          </a:prstGeom>
          <a:solidFill>
            <a:schemeClr val="accent6"/>
          </a:solidFill>
          <a:ln>
            <a:noFill/>
          </a:ln>
        </p:spPr>
        <p:txBody>
          <a:bodyPr spcFirstLastPara="1" wrap="square" lIns="91425" tIns="91425" rIns="91425" bIns="91425" anchor="ctr" anchorCtr="0">
            <a:spAutoFit/>
          </a:bodyPr>
          <a:lstStyle>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2" name="Google Shape;22;p3"/>
          <p:cNvSpPr txBox="1">
            <a:spLocks noGrp="1"/>
          </p:cNvSpPr>
          <p:nvPr>
            <p:ph type="body" idx="5"/>
          </p:nvPr>
        </p:nvSpPr>
        <p:spPr>
          <a:xfrm>
            <a:off x="22385343" y="6378481"/>
            <a:ext cx="10048874" cy="892530"/>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body" idx="6"/>
          </p:nvPr>
        </p:nvSpPr>
        <p:spPr>
          <a:xfrm>
            <a:off x="22377404" y="5617998"/>
            <a:ext cx="10058400" cy="615545"/>
          </a:xfrm>
          <a:prstGeom prst="rect">
            <a:avLst/>
          </a:prstGeom>
          <a:solidFill>
            <a:schemeClr val="accent6"/>
          </a:solidFill>
          <a:ln>
            <a:noFill/>
          </a:ln>
        </p:spPr>
        <p:txBody>
          <a:bodyPr spcFirstLastPara="1" wrap="square" lIns="91425" tIns="91425" rIns="91425" bIns="91425" anchor="ctr" anchorCtr="0">
            <a:spAutoFit/>
          </a:bodyPr>
          <a:lstStyle>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body" idx="7"/>
          </p:nvPr>
        </p:nvSpPr>
        <p:spPr>
          <a:xfrm>
            <a:off x="33390292" y="5617998"/>
            <a:ext cx="10047018" cy="615545"/>
          </a:xfrm>
          <a:prstGeom prst="rect">
            <a:avLst/>
          </a:prstGeom>
          <a:solidFill>
            <a:schemeClr val="accent6"/>
          </a:solidFill>
          <a:ln>
            <a:noFill/>
          </a:ln>
        </p:spPr>
        <p:txBody>
          <a:bodyPr spcFirstLastPara="1" wrap="square" lIns="91425" tIns="91425" rIns="91425" bIns="91425" anchor="ctr" anchorCtr="0">
            <a:spAutoFit/>
          </a:bodyPr>
          <a:lstStyle>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body" idx="8"/>
          </p:nvPr>
        </p:nvSpPr>
        <p:spPr>
          <a:xfrm>
            <a:off x="33390292" y="6378481"/>
            <a:ext cx="10047018" cy="892530"/>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body" idx="9"/>
          </p:nvPr>
        </p:nvSpPr>
        <p:spPr>
          <a:xfrm>
            <a:off x="33390292" y="14341987"/>
            <a:ext cx="10047018" cy="615545"/>
          </a:xfrm>
          <a:prstGeom prst="rect">
            <a:avLst/>
          </a:prstGeom>
          <a:solidFill>
            <a:schemeClr val="accent6"/>
          </a:solidFill>
          <a:ln>
            <a:noFill/>
          </a:ln>
        </p:spPr>
        <p:txBody>
          <a:bodyPr spcFirstLastPara="1" wrap="square" lIns="91425" tIns="91425" rIns="91425" bIns="91425" anchor="ctr" anchorCtr="0">
            <a:spAutoFit/>
          </a:bodyPr>
          <a:lstStyle>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7" name="Google Shape;27;p3"/>
          <p:cNvSpPr txBox="1">
            <a:spLocks noGrp="1"/>
          </p:cNvSpPr>
          <p:nvPr>
            <p:ph type="body" idx="13"/>
          </p:nvPr>
        </p:nvSpPr>
        <p:spPr>
          <a:xfrm>
            <a:off x="33390292" y="15011402"/>
            <a:ext cx="10052050" cy="892530"/>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8" name="Google Shape;28;p3"/>
          <p:cNvSpPr txBox="1">
            <a:spLocks noGrp="1"/>
          </p:cNvSpPr>
          <p:nvPr>
            <p:ph type="body" idx="14"/>
          </p:nvPr>
        </p:nvSpPr>
        <p:spPr>
          <a:xfrm>
            <a:off x="33390292" y="25748651"/>
            <a:ext cx="10047018" cy="615545"/>
          </a:xfrm>
          <a:prstGeom prst="rect">
            <a:avLst/>
          </a:prstGeom>
          <a:solidFill>
            <a:schemeClr val="accent6"/>
          </a:solidFill>
          <a:ln>
            <a:noFill/>
          </a:ln>
        </p:spPr>
        <p:txBody>
          <a:bodyPr spcFirstLastPara="1" wrap="square" lIns="91425" tIns="91425" rIns="91425" bIns="91425" anchor="ctr" anchorCtr="0">
            <a:spAutoFit/>
          </a:bodyPr>
          <a:lstStyle>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29" name="Google Shape;29;p3"/>
          <p:cNvSpPr txBox="1">
            <a:spLocks noGrp="1"/>
          </p:cNvSpPr>
          <p:nvPr>
            <p:ph type="body" idx="15"/>
          </p:nvPr>
        </p:nvSpPr>
        <p:spPr>
          <a:xfrm>
            <a:off x="33390292" y="26433446"/>
            <a:ext cx="10052050" cy="892530"/>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0" name="Google Shape;30;p3"/>
          <p:cNvSpPr txBox="1">
            <a:spLocks noGrp="1"/>
          </p:cNvSpPr>
          <p:nvPr>
            <p:ph type="body" idx="16"/>
          </p:nvPr>
        </p:nvSpPr>
        <p:spPr>
          <a:xfrm>
            <a:off x="459674" y="14951552"/>
            <a:ext cx="10056813" cy="892530"/>
          </a:xfrm>
          <a:prstGeom prst="rect">
            <a:avLst/>
          </a:prstGeom>
          <a:noFill/>
          <a:ln>
            <a:noFill/>
          </a:ln>
        </p:spPr>
        <p:txBody>
          <a:bodyPr spcFirstLastPara="1" wrap="square" lIns="228575" tIns="228575" rIns="228575" bIns="228575" anchor="t" anchorCtr="0">
            <a:spAutoFit/>
          </a:bodyPr>
          <a:lstStyle>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1" name="Google Shape;31;p3"/>
          <p:cNvSpPr txBox="1">
            <a:spLocks noGrp="1"/>
          </p:cNvSpPr>
          <p:nvPr>
            <p:ph type="body" idx="17"/>
          </p:nvPr>
        </p:nvSpPr>
        <p:spPr>
          <a:xfrm>
            <a:off x="477831" y="3842821"/>
            <a:ext cx="32389761" cy="8345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720"/>
              </a:spcBef>
              <a:spcAft>
                <a:spcPts val="0"/>
              </a:spcAft>
              <a:buClr>
                <a:srgbClr val="7B7B7B"/>
              </a:buClr>
              <a:buSzPts val="3600"/>
              <a:buFont typeface="Arial"/>
              <a:buNone/>
              <a:defRPr sz="3600" b="0" i="0" u="none" strike="noStrike" cap="none">
                <a:solidFill>
                  <a:srgbClr val="7B7B7B"/>
                </a:solidFill>
                <a:latin typeface="Helvetica Neue Light"/>
                <a:ea typeface="Helvetica Neue Light"/>
                <a:cs typeface="Helvetica Neue Light"/>
                <a:sym typeface="Helvetica Neue Light"/>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2" name="Google Shape;32;p3"/>
          <p:cNvSpPr txBox="1">
            <a:spLocks noGrp="1"/>
          </p:cNvSpPr>
          <p:nvPr>
            <p:ph type="body" idx="18"/>
          </p:nvPr>
        </p:nvSpPr>
        <p:spPr>
          <a:xfrm>
            <a:off x="477831" y="2686267"/>
            <a:ext cx="32389765" cy="8345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720"/>
              </a:spcBef>
              <a:spcAft>
                <a:spcPts val="0"/>
              </a:spcAft>
              <a:buClr>
                <a:srgbClr val="7B7B7B"/>
              </a:buClr>
              <a:buSzPts val="3600"/>
              <a:buFont typeface="Arial"/>
              <a:buNone/>
              <a:defRPr sz="3600" b="0" i="0" u="none" strike="noStrike" cap="none">
                <a:solidFill>
                  <a:srgbClr val="7B7B7B"/>
                </a:solidFill>
                <a:latin typeface="Helvetica Neue Light"/>
                <a:ea typeface="Helvetica Neue Light"/>
                <a:cs typeface="Helvetica Neue Light"/>
                <a:sym typeface="Helvetica Neue Light"/>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
        <p:nvSpPr>
          <p:cNvPr id="33" name="Google Shape;33;p3"/>
          <p:cNvSpPr txBox="1">
            <a:spLocks noGrp="1"/>
          </p:cNvSpPr>
          <p:nvPr>
            <p:ph type="body" idx="19"/>
          </p:nvPr>
        </p:nvSpPr>
        <p:spPr>
          <a:xfrm>
            <a:off x="477826" y="1032861"/>
            <a:ext cx="32389769" cy="1331444"/>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760"/>
              </a:spcBef>
              <a:spcAft>
                <a:spcPts val="0"/>
              </a:spcAft>
              <a:buClr>
                <a:srgbClr val="7B7B7B"/>
              </a:buClr>
              <a:buSzPts val="8800"/>
              <a:buFont typeface="Arial"/>
              <a:buNone/>
              <a:defRPr sz="8800" b="1" i="0" u="none" strike="noStrike" cap="none">
                <a:solidFill>
                  <a:srgbClr val="7B7B7B"/>
                </a:solidFill>
                <a:latin typeface="Helvetica Neue Light"/>
                <a:ea typeface="Helvetica Neue Light"/>
                <a:cs typeface="Helvetica Neue Light"/>
                <a:sym typeface="Helvetica Neue Light"/>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p:nvPr/>
        </p:nvSpPr>
        <p:spPr>
          <a:xfrm>
            <a:off x="449705" y="32356499"/>
            <a:ext cx="2514600" cy="341436"/>
          </a:xfrm>
          <a:prstGeom prst="rect">
            <a:avLst/>
          </a:prstGeom>
          <a:noFill/>
          <a:ln>
            <a:noFill/>
          </a:ln>
        </p:spPr>
        <p:txBody>
          <a:bodyPr spcFirstLastPara="1" wrap="square" lIns="91250" tIns="45600" rIns="91250" bIns="45600" anchor="t" anchorCtr="0">
            <a:sp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BFBFBF"/>
                </a:solidFill>
                <a:latin typeface="Arial"/>
                <a:ea typeface="Arial"/>
                <a:cs typeface="Arial"/>
                <a:sym typeface="Arial"/>
              </a:rPr>
              <a:t>RESEARCH POSTER PRESENTATION DESIGN © 2019</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550"/>
              </a:spcBef>
              <a:spcAft>
                <a:spcPts val="0"/>
              </a:spcAft>
              <a:buClr>
                <a:srgbClr val="000000"/>
              </a:buClr>
              <a:buSzPts val="1100"/>
              <a:buFont typeface="Arial"/>
              <a:buNone/>
            </a:pPr>
            <a:r>
              <a:rPr lang="en-US" sz="1100" b="1" i="0" u="none" strike="noStrike" cap="none">
                <a:solidFill>
                  <a:srgbClr val="BFBFBF"/>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graphicFrame>
        <p:nvGraphicFramePr>
          <p:cNvPr id="11" name="Google Shape;11;p2"/>
          <p:cNvGraphicFramePr/>
          <p:nvPr/>
        </p:nvGraphicFramePr>
        <p:xfrm>
          <a:off x="-10611120" y="14098"/>
          <a:ext cx="9776875" cy="32679250"/>
        </p:xfrm>
        <a:graphic>
          <a:graphicData uri="http://schemas.openxmlformats.org/drawingml/2006/table">
            <a:tbl>
              <a:tblPr firstRow="1" bandRow="1">
                <a:noFill/>
                <a:tableStyleId>{E8134860-6396-457F-BCFD-413EF0D37C1D}</a:tableStyleId>
              </a:tblPr>
              <a:tblGrid>
                <a:gridCol w="4192250">
                  <a:extLst>
                    <a:ext uri="{9D8B030D-6E8A-4147-A177-3AD203B41FA5}">
                      <a16:colId xmlns:a16="http://schemas.microsoft.com/office/drawing/2014/main" val="20000"/>
                    </a:ext>
                  </a:extLst>
                </a:gridCol>
                <a:gridCol w="5584625">
                  <a:extLst>
                    <a:ext uri="{9D8B030D-6E8A-4147-A177-3AD203B41FA5}">
                      <a16:colId xmlns:a16="http://schemas.microsoft.com/office/drawing/2014/main" val="20001"/>
                    </a:ext>
                  </a:extLst>
                </a:gridCol>
              </a:tblGrid>
              <a:tr h="1329125">
                <a:tc gridSpan="2">
                  <a:txBody>
                    <a:bodyPr/>
                    <a:lstStyle/>
                    <a:p>
                      <a:pPr marL="0" marR="0" lvl="0" indent="0" algn="ctr" rtl="0">
                        <a:lnSpc>
                          <a:spcPct val="100000"/>
                        </a:lnSpc>
                        <a:spcBef>
                          <a:spcPts val="0"/>
                        </a:spcBef>
                        <a:spcAft>
                          <a:spcPts val="0"/>
                        </a:spcAft>
                        <a:buClr>
                          <a:srgbClr val="1F3A4E"/>
                        </a:buClr>
                        <a:buSzPts val="3600"/>
                        <a:buFont typeface="Arial Black"/>
                        <a:buNone/>
                      </a:pPr>
                      <a:r>
                        <a:rPr lang="en-US" sz="3600" b="0" u="none" strike="noStrike" cap="none">
                          <a:solidFill>
                            <a:srgbClr val="1F3A4E"/>
                          </a:solidFill>
                          <a:latin typeface="Arial Black"/>
                          <a:ea typeface="Arial Black"/>
                          <a:cs typeface="Arial Black"/>
                          <a:sym typeface="Arial Black"/>
                        </a:rPr>
                        <a:t>QUICK START GUIDE</a:t>
                      </a:r>
                      <a:br>
                        <a:rPr lang="en-US" sz="3600" b="0" u="none" strike="noStrike" cap="none">
                          <a:solidFill>
                            <a:srgbClr val="1F3A4E"/>
                          </a:solidFill>
                          <a:latin typeface="Arial Black"/>
                          <a:ea typeface="Arial Black"/>
                          <a:cs typeface="Arial Black"/>
                          <a:sym typeface="Arial Black"/>
                        </a:rPr>
                      </a:br>
                      <a:r>
                        <a:rPr lang="en-US" sz="2800" b="1" u="none" strike="noStrike" cap="none">
                          <a:solidFill>
                            <a:srgbClr val="FF0000"/>
                          </a:solidFill>
                          <a:latin typeface="Trebuchet MS"/>
                          <a:ea typeface="Trebuchet MS"/>
                          <a:cs typeface="Trebuchet MS"/>
                          <a:sym typeface="Trebuchet MS"/>
                        </a:rPr>
                        <a:t>(THIS SIDEBAR WILL NOT PRINT)</a:t>
                      </a:r>
                      <a:endParaRPr sz="36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extLst>
                  <a:ext uri="{0D108BD9-81ED-4DB2-BD59-A6C34878D82A}">
                    <a16:rowId xmlns:a16="http://schemas.microsoft.com/office/drawing/2014/main" val="10000"/>
                  </a:ext>
                </a:extLst>
              </a:tr>
              <a:tr h="4206625">
                <a:tc gridSpan="2">
                  <a:txBody>
                    <a:bodyPr/>
                    <a:lstStyle/>
                    <a:p>
                      <a:pPr marL="0" marR="0" lvl="0" indent="0" algn="l" rtl="0">
                        <a:lnSpc>
                          <a:spcPct val="100000"/>
                        </a:lnSpc>
                        <a:spcBef>
                          <a:spcPts val="0"/>
                        </a:spcBef>
                        <a:spcAft>
                          <a:spcPts val="0"/>
                        </a:spcAft>
                        <a:buClr>
                          <a:srgbClr val="000000"/>
                        </a:buClr>
                        <a:buSzPts val="2000"/>
                        <a:buFont typeface="Arial"/>
                        <a:buNone/>
                      </a:pPr>
                      <a:r>
                        <a:rPr lang="en-US" sz="2000" i="0" u="none" strike="noStrike" cap="none">
                          <a:solidFill>
                            <a:srgbClr val="D9D9D9"/>
                          </a:solidFill>
                          <a:latin typeface="Arial"/>
                          <a:ea typeface="Arial"/>
                          <a:cs typeface="Arial"/>
                          <a:sym typeface="Arial"/>
                        </a:rPr>
                        <a:t>This PowerPoint template produces a </a:t>
                      </a:r>
                      <a:r>
                        <a:rPr lang="en-US" sz="2000" i="0" u="none" strike="noStrike" cap="none">
                          <a:solidFill>
                            <a:srgbClr val="FFC000"/>
                          </a:solidFill>
                          <a:latin typeface="Arial"/>
                          <a:ea typeface="Arial"/>
                          <a:cs typeface="Arial"/>
                          <a:sym typeface="Arial"/>
                        </a:rPr>
                        <a:t>36"x48" </a:t>
                      </a:r>
                      <a:r>
                        <a:rPr lang="en-US" sz="20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sz="1400" u="none" strike="noStrike" cap="none"/>
                    </a:p>
                    <a:p>
                      <a:pPr marL="0" marR="0" lvl="0" indent="0" algn="l" rtl="0">
                        <a:lnSpc>
                          <a:spcPct val="100000"/>
                        </a:lnSpc>
                        <a:spcBef>
                          <a:spcPts val="0"/>
                        </a:spcBef>
                        <a:spcAft>
                          <a:spcPts val="0"/>
                        </a:spcAft>
                        <a:buClr>
                          <a:srgbClr val="000000"/>
                        </a:buClr>
                        <a:buSzPts val="2000"/>
                        <a:buFont typeface="Arial"/>
                        <a:buNone/>
                      </a:pPr>
                      <a:endParaRPr sz="200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the  </a:t>
                      </a:r>
                      <a:r>
                        <a:rPr lang="en-US" sz="2000" i="0" u="none" strike="noStrike" cap="none">
                          <a:solidFill>
                            <a:srgbClr val="FFC000"/>
                          </a:solidFill>
                          <a:latin typeface="Arial"/>
                          <a:ea typeface="Arial"/>
                          <a:cs typeface="Arial"/>
                          <a:sym typeface="Arial"/>
                        </a:rPr>
                        <a:t>HELP DESK</a:t>
                      </a:r>
                      <a:r>
                        <a:rPr lang="en-US" sz="2000" i="0" u="none" strike="noStrike" cap="none">
                          <a:solidFill>
                            <a:srgbClr val="D9D9D9"/>
                          </a:solidFill>
                          <a:latin typeface="Arial"/>
                          <a:ea typeface="Arial"/>
                          <a:cs typeface="Arial"/>
                          <a:sym typeface="Arial"/>
                        </a:rPr>
                        <a:t> tab.</a:t>
                      </a:r>
                      <a:endParaRPr sz="1400" u="none" strike="noStrike" cap="none"/>
                    </a:p>
                    <a:p>
                      <a:pPr marL="0" marR="0" lvl="0" indent="0" algn="l" rtl="0">
                        <a:lnSpc>
                          <a:spcPct val="100000"/>
                        </a:lnSpc>
                        <a:spcBef>
                          <a:spcPts val="0"/>
                        </a:spcBef>
                        <a:spcAft>
                          <a:spcPts val="0"/>
                        </a:spcAft>
                        <a:buClr>
                          <a:srgbClr val="000000"/>
                        </a:buClr>
                        <a:buSzPts val="2000"/>
                        <a:buFont typeface="Arial"/>
                        <a:buNone/>
                      </a:pPr>
                      <a:endParaRPr sz="200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i="0" u="none" strike="noStrike" cap="none">
                          <a:solidFill>
                            <a:srgbClr val="D9D9D9"/>
                          </a:solidFill>
                          <a:latin typeface="Arial"/>
                          <a:ea typeface="Arial"/>
                          <a:cs typeface="Arial"/>
                          <a:sym typeface="Arial"/>
                        </a:rPr>
                        <a:t>To print your poster using our same-day professional printing service, go online to </a:t>
                      </a:r>
                      <a:r>
                        <a:rPr lang="en-US" sz="2000" i="0" u="none" strike="noStrike" cap="none">
                          <a:solidFill>
                            <a:srgbClr val="FFC000"/>
                          </a:solidFill>
                          <a:latin typeface="Arial"/>
                          <a:ea typeface="Arial"/>
                          <a:cs typeface="Arial"/>
                          <a:sym typeface="Arial"/>
                        </a:rPr>
                        <a:t>PosterPresentations.com</a:t>
                      </a:r>
                      <a:r>
                        <a:rPr lang="en-US" sz="2000" i="0" u="none" strike="noStrike" cap="none">
                          <a:solidFill>
                            <a:srgbClr val="D9D9D9"/>
                          </a:solidFill>
                          <a:latin typeface="Arial"/>
                          <a:ea typeface="Arial"/>
                          <a:cs typeface="Arial"/>
                          <a:sym typeface="Arial"/>
                        </a:rPr>
                        <a:t> and click on "</a:t>
                      </a:r>
                      <a:r>
                        <a:rPr lang="en-US" sz="2000" i="0" u="none" strike="noStrike" cap="none">
                          <a:solidFill>
                            <a:srgbClr val="FFC000"/>
                          </a:solidFill>
                          <a:latin typeface="Arial"/>
                          <a:ea typeface="Arial"/>
                          <a:cs typeface="Arial"/>
                          <a:sym typeface="Arial"/>
                        </a:rPr>
                        <a:t>Order your poster</a:t>
                      </a:r>
                      <a:r>
                        <a:rPr lang="en-US" sz="2000" i="0" u="none" strike="noStrike" cap="none">
                          <a:solidFill>
                            <a:srgbClr val="D9D9D9"/>
                          </a:solidFill>
                          <a:latin typeface="Arial"/>
                          <a:ea typeface="Arial"/>
                          <a:cs typeface="Arial"/>
                          <a:sym typeface="Arial"/>
                        </a:rPr>
                        <a:t>".</a:t>
                      </a:r>
                      <a:endParaRPr sz="20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1"/>
                  </a:ext>
                </a:extLst>
              </a:tr>
              <a:tr h="4572425">
                <a:tc>
                  <a:txBody>
                    <a:bodyPr/>
                    <a:lstStyle/>
                    <a:p>
                      <a:pPr marL="0" marR="0" lvl="0" indent="0" algn="ctr"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p>
                      <a:pPr marL="0" marR="0" lvl="0" indent="0" algn="ctr"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Arial"/>
                          <a:ea typeface="Arial"/>
                          <a:cs typeface="Arial"/>
                          <a:sym typeface="Arial"/>
                        </a:rPr>
                        <a:t>This is a template for a </a:t>
                      </a:r>
                      <a:endParaRPr sz="1400" u="none" strike="noStrike" cap="none"/>
                    </a:p>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Arial"/>
                          <a:ea typeface="Arial"/>
                          <a:cs typeface="Arial"/>
                          <a:sym typeface="Arial"/>
                        </a:rPr>
                        <a:t>presentation poster</a:t>
                      </a:r>
                      <a:br>
                        <a:rPr lang="en-US" sz="2000" u="none" strike="noStrike" cap="none">
                          <a:solidFill>
                            <a:schemeClr val="lt1"/>
                          </a:solidFill>
                          <a:latin typeface="Arial"/>
                          <a:ea typeface="Arial"/>
                          <a:cs typeface="Arial"/>
                          <a:sym typeface="Arial"/>
                        </a:rPr>
                      </a:br>
                      <a:r>
                        <a:rPr lang="en-US" sz="3600" b="1" u="none" strike="noStrike" cap="none">
                          <a:solidFill>
                            <a:srgbClr val="FFC000"/>
                          </a:solidFill>
                          <a:latin typeface="Arial"/>
                          <a:ea typeface="Arial"/>
                          <a:cs typeface="Arial"/>
                          <a:sym typeface="Arial"/>
                        </a:rPr>
                        <a:t>36 inches tall</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by</a:t>
                      </a:r>
                      <a:br>
                        <a:rPr lang="en-US" sz="3600" b="1" u="none" strike="noStrike" cap="none">
                          <a:solidFill>
                            <a:srgbClr val="FFC000"/>
                          </a:solidFill>
                          <a:latin typeface="Arial"/>
                          <a:ea typeface="Arial"/>
                          <a:cs typeface="Arial"/>
                          <a:sym typeface="Arial"/>
                        </a:rPr>
                      </a:br>
                      <a:r>
                        <a:rPr lang="en-US" sz="3600" b="1" u="none" strike="noStrike" cap="none">
                          <a:solidFill>
                            <a:srgbClr val="FFC000"/>
                          </a:solidFill>
                          <a:latin typeface="Arial"/>
                          <a:ea typeface="Arial"/>
                          <a:cs typeface="Arial"/>
                          <a:sym typeface="Arial"/>
                        </a:rPr>
                        <a:t>48 inches wide</a:t>
                      </a:r>
                      <a:br>
                        <a:rPr lang="en-US" sz="2000" u="none" strike="noStrike" cap="none">
                          <a:solidFill>
                            <a:schemeClr val="lt1"/>
                          </a:solidFill>
                          <a:latin typeface="Arial"/>
                          <a:ea typeface="Arial"/>
                          <a:cs typeface="Arial"/>
                          <a:sym typeface="Arial"/>
                        </a:rPr>
                      </a:br>
                      <a:endParaRPr sz="20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Important: Check the template size</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000" b="0" u="none" strike="noStrike" cap="none">
                          <a:solidFill>
                            <a:srgbClr val="D9D9D9"/>
                          </a:solidFill>
                          <a:latin typeface="Arial"/>
                          <a:ea typeface="Arial"/>
                          <a:cs typeface="Arial"/>
                          <a:sym typeface="Arial"/>
                        </a:rPr>
                      </a:br>
                      <a:r>
                        <a:rPr lang="en-US" sz="2000" b="0" u="none" strike="noStrike" cap="none">
                          <a:solidFill>
                            <a:srgbClr val="D9D9D9"/>
                          </a:solidFill>
                          <a:latin typeface="Arial"/>
                          <a:ea typeface="Arial"/>
                          <a:cs typeface="Arial"/>
                          <a:sym typeface="Arial"/>
                        </a:rPr>
                        <a:t>This template can also be printed at the following sizes without distortion and without any additional formatting:</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30 tall x 40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42 tall x 56 wide</a:t>
                      </a:r>
                      <a:br>
                        <a:rPr lang="en-US" sz="2000" b="0" u="none" strike="noStrike" cap="none">
                          <a:solidFill>
                            <a:srgbClr val="FFC000"/>
                          </a:solidFill>
                          <a:latin typeface="Arial"/>
                          <a:ea typeface="Arial"/>
                          <a:cs typeface="Arial"/>
                          <a:sym typeface="Arial"/>
                        </a:rPr>
                      </a:br>
                      <a:r>
                        <a:rPr lang="en-US" sz="2000" b="0" u="none" strike="noStrike" cap="none">
                          <a:solidFill>
                            <a:srgbClr val="FFC000"/>
                          </a:solidFill>
                          <a:latin typeface="Arial"/>
                          <a:ea typeface="Arial"/>
                          <a:cs typeface="Arial"/>
                          <a:sym typeface="Arial"/>
                        </a:rPr>
                        <a:t>48 tall x 64 wide</a:t>
                      </a:r>
                      <a:endParaRPr sz="1400" u="none" strike="noStrike" cap="none"/>
                    </a:p>
                  </a:txBody>
                  <a:tcPr marL="182875" marR="91450" marT="137150" marB="45725">
                    <a:solidFill>
                      <a:srgbClr val="010101"/>
                    </a:solidFill>
                  </a:tcPr>
                </a:tc>
                <a:extLst>
                  <a:ext uri="{0D108BD9-81ED-4DB2-BD59-A6C34878D82A}">
                    <a16:rowId xmlns:a16="http://schemas.microsoft.com/office/drawing/2014/main" val="10002"/>
                  </a:ext>
                </a:extLst>
              </a:tr>
              <a:tr h="4288700">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solidFill>
                            <a:srgbClr val="FFC000"/>
                          </a:solidFill>
                          <a:latin typeface="Arial"/>
                          <a:ea typeface="Arial"/>
                          <a:cs typeface="Arial"/>
                          <a:sym typeface="Arial"/>
                        </a:rPr>
                        <a:t>How to </a:t>
                      </a:r>
                      <a:r>
                        <a:rPr lang="en-US" sz="4000" b="1" u="none" strike="noStrike" cap="none">
                          <a:solidFill>
                            <a:srgbClr val="FFC000"/>
                          </a:solidFill>
                          <a:latin typeface="Arial"/>
                          <a:ea typeface="Arial"/>
                          <a:cs typeface="Arial"/>
                          <a:sym typeface="Arial"/>
                        </a:rPr>
                        <a:t>Zoom in </a:t>
                      </a:r>
                      <a:r>
                        <a:rPr lang="en-US" sz="2400" b="1" u="none" strike="noStrike" cap="none">
                          <a:solidFill>
                            <a:srgbClr val="FFC000"/>
                          </a:solidFill>
                          <a:latin typeface="Arial"/>
                          <a:ea typeface="Arial"/>
                          <a:cs typeface="Arial"/>
                          <a:sym typeface="Arial"/>
                        </a:rPr>
                        <a:t>and </a:t>
                      </a:r>
                      <a:r>
                        <a:rPr lang="en-US" sz="1800" b="1" u="none" strike="noStrike" cap="none">
                          <a:solidFill>
                            <a:srgbClr val="FFC000"/>
                          </a:solidFill>
                          <a:latin typeface="Arial"/>
                          <a:ea typeface="Arial"/>
                          <a:cs typeface="Arial"/>
                          <a:sym typeface="Arial"/>
                        </a:rPr>
                        <a:t>out</a:t>
                      </a:r>
                      <a:endParaRPr sz="2400" b="1" u="none" strike="noStrike" cap="none">
                        <a:solidFill>
                          <a:srgbClr val="FFC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0" u="none" strike="noStrike" cap="none">
                          <a:solidFill>
                            <a:srgbClr val="D9D9D9"/>
                          </a:solidFill>
                          <a:latin typeface="Arial"/>
                          <a:ea typeface="Arial"/>
                          <a:cs typeface="Arial"/>
                          <a:sym typeface="Arial"/>
                        </a:rPr>
                        <a:t>Use the PowerPoint zoom tool to adjust the screen magnification to view comfortably. PowerPoint provides 2 ways to zoom: </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1. </a:t>
                      </a:r>
                      <a:r>
                        <a:rPr lang="en-US" sz="2000" b="0" u="none" strike="noStrike" cap="none">
                          <a:solidFill>
                            <a:srgbClr val="D9D9D9"/>
                          </a:solidFill>
                          <a:latin typeface="Arial"/>
                          <a:ea typeface="Arial"/>
                          <a:cs typeface="Arial"/>
                          <a:sym typeface="Arial"/>
                        </a:rPr>
                        <a:t>On the top menu bar click on the VIEW tab and then click on ZOOM. Choose the zoom percentage that works best for you. </a:t>
                      </a:r>
                      <a:br>
                        <a:rPr lang="en-US" sz="2000" b="0" u="none" strike="noStrike" cap="none">
                          <a:solidFill>
                            <a:srgbClr val="D9D9D9"/>
                          </a:solidFill>
                          <a:latin typeface="Arial"/>
                          <a:ea typeface="Arial"/>
                          <a:cs typeface="Arial"/>
                          <a:sym typeface="Arial"/>
                        </a:rPr>
                      </a:br>
                      <a:r>
                        <a:rPr lang="en-US" sz="2000" b="0" u="none" strike="noStrike" cap="none">
                          <a:solidFill>
                            <a:srgbClr val="FFC000"/>
                          </a:solidFill>
                          <a:latin typeface="Arial"/>
                          <a:ea typeface="Arial"/>
                          <a:cs typeface="Arial"/>
                          <a:sym typeface="Arial"/>
                        </a:rPr>
                        <a:t>2. </a:t>
                      </a:r>
                      <a:r>
                        <a:rPr lang="en-US" sz="2000" b="0" u="none" strike="noStrike" cap="none">
                          <a:solidFill>
                            <a:srgbClr val="D9D9D9"/>
                          </a:solidFill>
                          <a:latin typeface="Arial"/>
                          <a:ea typeface="Arial"/>
                          <a:cs typeface="Arial"/>
                          <a:sym typeface="Arial"/>
                        </a:rPr>
                        <a:t>For better zoom flexibility, use the zoom slider at the bottom right of the window.</a:t>
                      </a:r>
                      <a:endParaRPr sz="1400" u="none" strike="noStrike" cap="none"/>
                    </a:p>
                  </a:txBody>
                  <a:tcPr marL="182875" marR="91450" marT="137150" marB="45725">
                    <a:solidFill>
                      <a:srgbClr val="010101"/>
                    </a:solidFill>
                  </a:tcPr>
                </a:tc>
                <a:extLst>
                  <a:ext uri="{0D108BD9-81ED-4DB2-BD59-A6C34878D82A}">
                    <a16:rowId xmlns:a16="http://schemas.microsoft.com/office/drawing/2014/main" val="10003"/>
                  </a:ext>
                </a:extLst>
              </a:tr>
              <a:tr h="180052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Ruler and Guides</a:t>
                      </a:r>
                      <a:br>
                        <a:rPr lang="en-US" sz="2000" b="0" u="none" strike="noStrike" cap="none">
                          <a:solidFill>
                            <a:srgbClr val="FFC000"/>
                          </a:solidFill>
                          <a:latin typeface="Arial"/>
                          <a:ea typeface="Arial"/>
                          <a:cs typeface="Arial"/>
                          <a:sym typeface="Arial"/>
                        </a:rPr>
                      </a:br>
                      <a:r>
                        <a:rPr lang="en-US" sz="2000" b="0" u="none" strike="noStrike" cap="none">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sz="1400" u="none" strike="noStrike" cap="none"/>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4"/>
                  </a:ext>
                </a:extLst>
              </a:tr>
              <a:tr h="3824350">
                <a:tc>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solidFill>
                          <a:srgbClr val="1F3A4E"/>
                        </a:solidFill>
                      </a:endParaRPr>
                    </a:p>
                  </a:txBody>
                  <a:tcPr marL="91450" marR="91450" marT="45725" marB="45725"/>
                </a:tc>
                <a:tc>
                  <a:txBody>
                    <a:bodyPr/>
                    <a:lstStyle/>
                    <a:p>
                      <a:pPr marL="0" marR="0" lvl="1" indent="0" algn="l" rtl="0">
                        <a:lnSpc>
                          <a:spcPct val="100000"/>
                        </a:lnSpc>
                        <a:spcBef>
                          <a:spcPts val="0"/>
                        </a:spcBef>
                        <a:spcAft>
                          <a:spcPts val="0"/>
                        </a:spcAft>
                        <a:buClr>
                          <a:srgbClr val="000000"/>
                        </a:buClr>
                        <a:buSzPts val="2400"/>
                        <a:buFont typeface="Arial"/>
                        <a:buNone/>
                      </a:pPr>
                      <a:r>
                        <a:rPr lang="en-US" sz="2400" b="1" u="none" strike="noStrike" cap="none">
                          <a:solidFill>
                            <a:srgbClr val="FFC000"/>
                          </a:solidFill>
                          <a:latin typeface="Arial"/>
                          <a:ea typeface="Arial"/>
                          <a:cs typeface="Arial"/>
                          <a:sym typeface="Arial"/>
                        </a:rPr>
                        <a:t>Headers and text containers</a:t>
                      </a:r>
                      <a:br>
                        <a:rPr lang="en-US" sz="2000" b="0" u="none" strike="noStrike" cap="none">
                          <a:solidFill>
                            <a:schemeClr val="lt1"/>
                          </a:solidFill>
                          <a:latin typeface="Arial"/>
                          <a:ea typeface="Arial"/>
                          <a:cs typeface="Arial"/>
                          <a:sym typeface="Arial"/>
                        </a:rPr>
                      </a:br>
                      <a:r>
                        <a:rPr lang="en-US" sz="20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Click inside a section header to add its text.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2000" b="0" u="none" strike="noStrike" cap="none">
                          <a:solidFill>
                            <a:schemeClr val="lt1"/>
                          </a:solidFill>
                          <a:latin typeface="Arial"/>
                          <a:ea typeface="Arial"/>
                          <a:cs typeface="Arial"/>
                          <a:sym typeface="Arial"/>
                        </a:rPr>
                      </a:br>
                      <a:r>
                        <a:rPr lang="en-US" sz="2000" b="0" u="none" strike="noStrike" cap="none">
                          <a:solidFill>
                            <a:srgbClr val="FFC000"/>
                          </a:solidFill>
                          <a:latin typeface="Arial"/>
                          <a:ea typeface="Arial"/>
                          <a:cs typeface="Arial"/>
                          <a:sym typeface="Arial"/>
                        </a:rPr>
                        <a:t>-</a:t>
                      </a:r>
                      <a:r>
                        <a:rPr lang="en-US" sz="2000" b="0" u="none" strike="noStrike" cap="none">
                          <a:solidFill>
                            <a:schemeClr val="lt1"/>
                          </a:solidFill>
                          <a:latin typeface="Arial"/>
                          <a:ea typeface="Arial"/>
                          <a:cs typeface="Arial"/>
                          <a:sym typeface="Arial"/>
                        </a:rPr>
                        <a:t> </a:t>
                      </a:r>
                      <a:r>
                        <a:rPr lang="en-US" sz="2000" b="0" u="none" strike="noStrike" cap="none">
                          <a:solidFill>
                            <a:srgbClr val="D9D9D9"/>
                          </a:solidFill>
                          <a:latin typeface="Arial"/>
                          <a:ea typeface="Arial"/>
                          <a:cs typeface="Arial"/>
                          <a:sym typeface="Arial"/>
                        </a:rPr>
                        <a:t>To increase its size, click on the white circles and expand to the the desired size.</a:t>
                      </a:r>
                      <a:endParaRPr sz="1400" u="none" strike="noStrike" cap="none"/>
                    </a:p>
                  </a:txBody>
                  <a:tcPr marL="182875" marR="91450" marT="137150" marB="45725">
                    <a:solidFill>
                      <a:srgbClr val="010101"/>
                    </a:solidFill>
                  </a:tcPr>
                </a:tc>
                <a:extLst>
                  <a:ext uri="{0D108BD9-81ED-4DB2-BD59-A6C34878D82A}">
                    <a16:rowId xmlns:a16="http://schemas.microsoft.com/office/drawing/2014/main" val="10005"/>
                  </a:ext>
                </a:extLst>
              </a:tr>
              <a:tr h="3519125">
                <a:tc gridSpan="2">
                  <a:txBody>
                    <a:bodyPr/>
                    <a:lstStyle/>
                    <a:p>
                      <a:pPr marL="0" marR="0" lvl="0" indent="0" algn="l" rtl="0">
                        <a:lnSpc>
                          <a:spcPct val="100000"/>
                        </a:lnSpc>
                        <a:spcBef>
                          <a:spcPts val="0"/>
                        </a:spcBef>
                        <a:spcAft>
                          <a:spcPts val="0"/>
                        </a:spcAft>
                        <a:buClr>
                          <a:srgbClr val="000000"/>
                        </a:buClr>
                        <a:buSzPts val="2400"/>
                        <a:buFont typeface="Arial"/>
                        <a:buNone/>
                      </a:pPr>
                      <a:r>
                        <a:rPr lang="en-US" sz="2400" b="1" u="none" strike="noStrike" cap="none">
                          <a:solidFill>
                            <a:srgbClr val="FFC000"/>
                          </a:solidFill>
                          <a:latin typeface="Arial"/>
                          <a:ea typeface="Arial"/>
                          <a:cs typeface="Arial"/>
                          <a:sym typeface="Arial"/>
                        </a:rPr>
                        <a:t>Adding content to the poster</a:t>
                      </a:r>
                      <a:endParaRPr sz="1400" u="none" strike="noStrike" cap="none"/>
                    </a:p>
                    <a:p>
                      <a:pPr marL="0" marR="0" lvl="0" indent="0" algn="l"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sz="1400" u="none" strike="noStrike" cap="none"/>
                    </a:p>
                    <a:p>
                      <a:pPr marL="342900" marR="0" lvl="0" indent="-342900" algn="l" rtl="0">
                        <a:lnSpc>
                          <a:spcPct val="100000"/>
                        </a:lnSpc>
                        <a:spcBef>
                          <a:spcPts val="0"/>
                        </a:spcBef>
                        <a:spcAft>
                          <a:spcPts val="0"/>
                        </a:spcAft>
                        <a:buClr>
                          <a:srgbClr val="D9D9D9"/>
                        </a:buClr>
                        <a:buSzPts val="2000"/>
                        <a:buFont typeface="Arial"/>
                        <a:buChar char="-"/>
                      </a:pPr>
                      <a:r>
                        <a:rPr lang="en-US" sz="2000" u="none" strike="noStrike" cap="none">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000" u="none" strike="noStrike" cap="none">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6"/>
                  </a:ext>
                </a:extLst>
              </a:tr>
              <a:tr h="2377650">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Photos</a:t>
                      </a:r>
                      <a:endParaRPr sz="1400" u="none" strike="noStrike" cap="none"/>
                    </a:p>
                    <a:p>
                      <a:pPr marL="0" marR="0" lvl="0" indent="0" algn="l" rtl="0">
                        <a:lnSpc>
                          <a:spcPct val="100000"/>
                        </a:lnSpc>
                        <a:spcBef>
                          <a:spcPts val="0"/>
                        </a:spcBef>
                        <a:spcAft>
                          <a:spcPts val="0"/>
                        </a:spcAft>
                        <a:buClr>
                          <a:srgbClr val="D9D9D9"/>
                        </a:buClr>
                        <a:buSzPts val="2000"/>
                        <a:buFont typeface="Arial"/>
                        <a:buNone/>
                      </a:pPr>
                      <a:r>
                        <a:rPr lang="en-US" sz="20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sz="1400" u="none" strike="noStrike" cap="none"/>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7"/>
                  </a:ext>
                </a:extLst>
              </a:tr>
              <a:tr h="2293175">
                <a:tc gridSpan="2">
                  <a:txBody>
                    <a:bodyPr/>
                    <a:lstStyle/>
                    <a:p>
                      <a:pPr marL="0" marR="0" lvl="0" indent="0" algn="l" rtl="0">
                        <a:lnSpc>
                          <a:spcPct val="100000"/>
                        </a:lnSpc>
                        <a:spcBef>
                          <a:spcPts val="0"/>
                        </a:spcBef>
                        <a:spcAft>
                          <a:spcPts val="0"/>
                        </a:spcAft>
                        <a:buClr>
                          <a:srgbClr val="000000"/>
                        </a:buClr>
                        <a:buSzPts val="2000"/>
                        <a:buFont typeface="Arial"/>
                        <a:buNone/>
                      </a:pPr>
                      <a:endParaRPr sz="2000" u="none" strike="noStrike" cap="none">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08"/>
                  </a:ext>
                </a:extLst>
              </a:tr>
              <a:tr h="1280275">
                <a:tc gridSpan="2">
                  <a:txBody>
                    <a:bodyPr/>
                    <a:lstStyle/>
                    <a:p>
                      <a:pPr marL="0" marR="0" lvl="0" indent="0" algn="l" rtl="0">
                        <a:lnSpc>
                          <a:spcPct val="100000"/>
                        </a:lnSpc>
                        <a:spcBef>
                          <a:spcPts val="0"/>
                        </a:spcBef>
                        <a:spcAft>
                          <a:spcPts val="0"/>
                        </a:spcAft>
                        <a:buClr>
                          <a:srgbClr val="FFC000"/>
                        </a:buClr>
                        <a:buSzPts val="2400"/>
                        <a:buFont typeface="Arial"/>
                        <a:buNone/>
                      </a:pPr>
                      <a:r>
                        <a:rPr lang="en-US" sz="2400" b="1" u="none" strike="noStrike" cap="none">
                          <a:solidFill>
                            <a:srgbClr val="FFC000"/>
                          </a:solidFill>
                          <a:latin typeface="Arial"/>
                          <a:ea typeface="Arial"/>
                          <a:cs typeface="Arial"/>
                          <a:sym typeface="Arial"/>
                        </a:rPr>
                        <a:t>Quality check your graphics</a:t>
                      </a:r>
                      <a:endParaRPr sz="1400" u="none" strike="noStrike" cap="none"/>
                    </a:p>
                    <a:p>
                      <a:pPr marL="0" marR="0" lvl="0" indent="0" algn="l" rtl="0">
                        <a:lnSpc>
                          <a:spcPct val="100000"/>
                        </a:lnSpc>
                        <a:spcBef>
                          <a:spcPts val="0"/>
                        </a:spcBef>
                        <a:spcAft>
                          <a:spcPts val="0"/>
                        </a:spcAft>
                        <a:buClr>
                          <a:srgbClr val="D9D9D9"/>
                        </a:buClr>
                        <a:buSzPts val="2000"/>
                        <a:buFont typeface="Arial"/>
                        <a:buNone/>
                      </a:pPr>
                      <a:r>
                        <a:rPr lang="en-US" sz="2000" u="none" strike="noStrike" cap="none">
                          <a:solidFill>
                            <a:srgbClr val="D9D9D9"/>
                          </a:solidFill>
                          <a:latin typeface="Arial"/>
                          <a:ea typeface="Arial"/>
                          <a:cs typeface="Arial"/>
                          <a:sym typeface="Arial"/>
                        </a:rPr>
                        <a:t>Zoom in and look at your images at 100%-200% magnification. If they look clear, they will print well. </a:t>
                      </a:r>
                      <a:endParaRPr sz="1400" u="none" strike="noStrike" cap="none"/>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9"/>
                  </a:ext>
                </a:extLst>
              </a:tr>
              <a:tr h="3187275">
                <a:tc gridSpan="2">
                  <a:txBody>
                    <a:bodyPr/>
                    <a:lstStyle/>
                    <a:p>
                      <a:pPr marL="0" marR="0" lvl="0" indent="0" algn="l" rtl="0">
                        <a:lnSpc>
                          <a:spcPct val="100000"/>
                        </a:lnSpc>
                        <a:spcBef>
                          <a:spcPts val="0"/>
                        </a:spcBef>
                        <a:spcAft>
                          <a:spcPts val="0"/>
                        </a:spcAft>
                        <a:buClr>
                          <a:schemeClr val="dk1"/>
                        </a:buClr>
                        <a:buSzPts val="2000"/>
                        <a:buFont typeface="Calibri"/>
                        <a:buNone/>
                      </a:pPr>
                      <a:endParaRPr sz="2000" u="none" strike="noStrike" cap="none">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2" name="Google Shape;12;p2"/>
          <p:cNvGraphicFramePr/>
          <p:nvPr/>
        </p:nvGraphicFramePr>
        <p:xfrm>
          <a:off x="44695229" y="-84749"/>
          <a:ext cx="9430175" cy="33075050"/>
        </p:xfrm>
        <a:graphic>
          <a:graphicData uri="http://schemas.openxmlformats.org/drawingml/2006/table">
            <a:tbl>
              <a:tblPr firstRow="1" bandRow="1">
                <a:noFill/>
                <a:tableStyleId>{E8134860-6396-457F-BCFD-413EF0D37C1D}</a:tableStyleId>
              </a:tblPr>
              <a:tblGrid>
                <a:gridCol w="3343825">
                  <a:extLst>
                    <a:ext uri="{9D8B030D-6E8A-4147-A177-3AD203B41FA5}">
                      <a16:colId xmlns:a16="http://schemas.microsoft.com/office/drawing/2014/main" val="20000"/>
                    </a:ext>
                  </a:extLst>
                </a:gridCol>
                <a:gridCol w="1381550">
                  <a:extLst>
                    <a:ext uri="{9D8B030D-6E8A-4147-A177-3AD203B41FA5}">
                      <a16:colId xmlns:a16="http://schemas.microsoft.com/office/drawing/2014/main" val="20001"/>
                    </a:ext>
                  </a:extLst>
                </a:gridCol>
                <a:gridCol w="4704800">
                  <a:extLst>
                    <a:ext uri="{9D8B030D-6E8A-4147-A177-3AD203B41FA5}">
                      <a16:colId xmlns:a16="http://schemas.microsoft.com/office/drawing/2014/main" val="20002"/>
                    </a:ext>
                  </a:extLst>
                </a:gridCol>
              </a:tblGrid>
              <a:tr h="1756425">
                <a:tc gridSpan="3">
                  <a:txBody>
                    <a:bodyPr/>
                    <a:lstStyle/>
                    <a:p>
                      <a:pPr marL="0" marR="0" lvl="0" indent="0" algn="ctr" rtl="0">
                        <a:lnSpc>
                          <a:spcPct val="100000"/>
                        </a:lnSpc>
                        <a:spcBef>
                          <a:spcPts val="0"/>
                        </a:spcBef>
                        <a:spcAft>
                          <a:spcPts val="0"/>
                        </a:spcAft>
                        <a:buClr>
                          <a:srgbClr val="1F3A4E"/>
                        </a:buClr>
                        <a:buSzPts val="4000"/>
                        <a:buFont typeface="Arial Black"/>
                        <a:buNone/>
                      </a:pPr>
                      <a:r>
                        <a:rPr lang="en-US" sz="4000" b="0" u="none" strike="noStrike" cap="none">
                          <a:solidFill>
                            <a:srgbClr val="1F3A4E"/>
                          </a:solidFill>
                          <a:latin typeface="Arial Black"/>
                          <a:ea typeface="Arial Black"/>
                          <a:cs typeface="Arial Black"/>
                          <a:sym typeface="Arial Black"/>
                        </a:rPr>
                        <a:t>QUICK START GUIDE</a:t>
                      </a:r>
                      <a:br>
                        <a:rPr lang="en-US" sz="4000" b="0" u="none" strike="noStrike" cap="none">
                          <a:solidFill>
                            <a:srgbClr val="1F3A4E"/>
                          </a:solidFill>
                          <a:latin typeface="Arial Black"/>
                          <a:ea typeface="Arial Black"/>
                          <a:cs typeface="Arial Black"/>
                          <a:sym typeface="Arial Black"/>
                        </a:rPr>
                      </a:br>
                      <a:r>
                        <a:rPr lang="en-US" sz="3200" b="1" u="none" strike="noStrike" cap="none">
                          <a:solidFill>
                            <a:srgbClr val="FF0000"/>
                          </a:solidFill>
                          <a:latin typeface="Trebuchet MS"/>
                          <a:ea typeface="Trebuchet MS"/>
                          <a:cs typeface="Trebuchet MS"/>
                          <a:sym typeface="Trebuchet MS"/>
                        </a:rPr>
                        <a:t>(THIS SIDEBAR WILL NOT PRINT)</a:t>
                      </a:r>
                      <a:endParaRPr sz="40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0">
                <a:tc gridSpan="3">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rgbClr val="FFC000"/>
                          </a:solidFill>
                          <a:latin typeface="Arial"/>
                          <a:ea typeface="Arial"/>
                          <a:cs typeface="Arial"/>
                          <a:sym typeface="Arial"/>
                        </a:rPr>
                        <a:t>How to change the template colors</a:t>
                      </a:r>
                      <a:endParaRPr sz="1400" u="none" strike="noStrike" cap="none"/>
                    </a:p>
                    <a:p>
                      <a:pPr marL="0" marR="0" lvl="0" indent="0" algn="l" rtl="0">
                        <a:lnSpc>
                          <a:spcPct val="100000"/>
                        </a:lnSpc>
                        <a:spcBef>
                          <a:spcPts val="0"/>
                        </a:spcBef>
                        <a:spcAft>
                          <a:spcPts val="0"/>
                        </a:spcAft>
                        <a:buClr>
                          <a:srgbClr val="000000"/>
                        </a:buClr>
                        <a:buSzPts val="2400"/>
                        <a:buFont typeface="Arial"/>
                        <a:buNone/>
                      </a:pPr>
                      <a:r>
                        <a:rPr lang="en-US" sz="2400" b="0" u="none" strike="noStrike" cap="none">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400" u="sng" strike="noStrike" cap="none">
                          <a:solidFill>
                            <a:schemeClr val="hlink"/>
                          </a:solidFill>
                          <a:hlinkClick r:id="rId3"/>
                        </a:rPr>
                        <a:t>https://www.posterpresentations.com/how-to-change-the-research-poster-template-colors.html</a:t>
                      </a:r>
                      <a:endParaRPr sz="2400" u="none" strike="noStrike" cap="none">
                        <a:solidFill>
                          <a:srgbClr val="FFC000"/>
                        </a:solidFill>
                      </a:endParaRPr>
                    </a:p>
                    <a:p>
                      <a:pPr marL="0" marR="0" lvl="0" indent="0" algn="l" rtl="0">
                        <a:lnSpc>
                          <a:spcPct val="100000"/>
                        </a:lnSpc>
                        <a:spcBef>
                          <a:spcPts val="0"/>
                        </a:spcBef>
                        <a:spcAft>
                          <a:spcPts val="0"/>
                        </a:spcAft>
                        <a:buClr>
                          <a:srgbClr val="000000"/>
                        </a:buClr>
                        <a:buSzPts val="2400"/>
                        <a:buFont typeface="Arial"/>
                        <a:buNone/>
                      </a:pPr>
                      <a:endParaRPr sz="2400" b="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u="none" strike="noStrike" cap="none">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sz="1400" u="none" strike="noStrike" cap="none"/>
                    </a:p>
                    <a:p>
                      <a:pPr marL="0" marR="0" lvl="0" indent="0" algn="l" rtl="0">
                        <a:lnSpc>
                          <a:spcPct val="100000"/>
                        </a:lnSpc>
                        <a:spcBef>
                          <a:spcPts val="0"/>
                        </a:spcBef>
                        <a:spcAft>
                          <a:spcPts val="0"/>
                        </a:spcAft>
                        <a:buClr>
                          <a:srgbClr val="000000"/>
                        </a:buClr>
                        <a:buSzPts val="2400"/>
                        <a:buFont typeface="Arial"/>
                        <a:buNone/>
                      </a:pPr>
                      <a:endParaRPr sz="2400" b="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u="none" strike="noStrike" cap="none">
                          <a:solidFill>
                            <a:srgbClr val="D9D9D9"/>
                          </a:solidFill>
                          <a:latin typeface="Arial"/>
                          <a:ea typeface="Arial"/>
                          <a:cs typeface="Arial"/>
                          <a:sym typeface="Arial"/>
                        </a:rPr>
                        <a:t>After you finish working on the SLIDE MASTER, it is important that you go to VIEW &gt; NORMAL to continue working on your poster. </a:t>
                      </a:r>
                      <a:endParaRPr sz="1400" u="none" strike="noStrike" cap="none"/>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667725">
                <a:tc gridSpan="3">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rgbClr val="FFC000"/>
                          </a:solidFill>
                          <a:latin typeface="Arial"/>
                          <a:ea typeface="Arial"/>
                          <a:cs typeface="Arial"/>
                          <a:sym typeface="Arial"/>
                        </a:rPr>
                        <a:t>How to change the column layout configuration</a:t>
                      </a:r>
                      <a:endParaRPr sz="1400" u="none" strike="noStrike" cap="none"/>
                    </a:p>
                    <a:p>
                      <a:pPr marL="0" marR="0" lvl="0" indent="0" algn="l" rtl="0">
                        <a:lnSpc>
                          <a:spcPct val="100000"/>
                        </a:lnSpc>
                        <a:spcBef>
                          <a:spcPts val="0"/>
                        </a:spcBef>
                        <a:spcAft>
                          <a:spcPts val="0"/>
                        </a:spcAft>
                        <a:buClr>
                          <a:srgbClr val="000000"/>
                        </a:buClr>
                        <a:buSzPts val="2400"/>
                        <a:buFont typeface="Arial"/>
                        <a:buNone/>
                      </a:pPr>
                      <a:r>
                        <a:rPr lang="en-US" sz="2400" u="none" strike="noStrike" cap="none">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You can see a tutorial here: </a:t>
                      </a:r>
                      <a:r>
                        <a:rPr lang="en-US" sz="2400" u="sng" strike="noStrike" cap="none">
                          <a:solidFill>
                            <a:srgbClr val="FFC000"/>
                          </a:solidFill>
                          <a:latin typeface="Arial"/>
                          <a:ea typeface="Arial"/>
                          <a:cs typeface="Arial"/>
                          <a:sym typeface="Arial"/>
                        </a:rPr>
                        <a:t>https://www.posterpresentations.com/how-to-change-the-column-configuration.html</a:t>
                      </a:r>
                      <a:endParaRPr sz="8600" u="sng" strike="noStrike" cap="none">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517707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txBody>
                  <a:tcPr marL="182875" marR="91450" marT="137150" marB="45725"/>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FFC000"/>
                        </a:buClr>
                        <a:buSzPts val="2800"/>
                        <a:buFont typeface="Arial"/>
                        <a:buNone/>
                      </a:pPr>
                      <a:r>
                        <a:rPr lang="en-US" sz="2800" b="1" u="none" strike="noStrike" cap="none">
                          <a:solidFill>
                            <a:srgbClr val="FFC000"/>
                          </a:solidFill>
                          <a:latin typeface="Arial"/>
                          <a:ea typeface="Arial"/>
                          <a:cs typeface="Arial"/>
                          <a:sym typeface="Arial"/>
                        </a:rPr>
                        <a:t>How to hide the QUICK START GUIDE bars from the sides of the template</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The Quick Start Guides </a:t>
                      </a:r>
                      <a:r>
                        <a:rPr lang="en-US" sz="2400" u="sng" strike="noStrike" cap="none">
                          <a:solidFill>
                            <a:srgbClr val="D9D9D9"/>
                          </a:solidFill>
                          <a:latin typeface="Arial"/>
                          <a:ea typeface="Arial"/>
                          <a:cs typeface="Arial"/>
                          <a:sym typeface="Arial"/>
                        </a:rPr>
                        <a:t>are outside the template’s printable area</a:t>
                      </a:r>
                      <a:r>
                        <a:rPr lang="en-US" sz="2400" u="none" strike="noStrike" cap="none">
                          <a:solidFill>
                            <a:srgbClr val="D9D9D9"/>
                          </a:solidFill>
                          <a:latin typeface="Arial"/>
                          <a:ea typeface="Arial"/>
                          <a:cs typeface="Arial"/>
                          <a:sym typeface="Arial"/>
                        </a:rPr>
                        <a:t> and they will not be on the printed poster. </a:t>
                      </a:r>
                      <a:endParaRPr sz="1400" u="none" strike="noStrike" cap="none"/>
                    </a:p>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If you create a PDF file from your template, the guides will not be included.</a:t>
                      </a:r>
                      <a:endParaRPr sz="1400" u="none" strike="noStrike" cap="none"/>
                    </a:p>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To hide the guides click on the </a:t>
                      </a:r>
                      <a:r>
                        <a:rPr lang="en-US" sz="2400" b="1" u="none" strike="noStrike" cap="none">
                          <a:solidFill>
                            <a:srgbClr val="D9D9D9"/>
                          </a:solidFill>
                          <a:latin typeface="Arial"/>
                          <a:ea typeface="Arial"/>
                          <a:cs typeface="Arial"/>
                          <a:sym typeface="Arial"/>
                        </a:rPr>
                        <a:t>Home</a:t>
                      </a:r>
                      <a:r>
                        <a:rPr lang="en-US" sz="2400" u="none" strike="noStrike" cap="none">
                          <a:solidFill>
                            <a:srgbClr val="D9D9D9"/>
                          </a:solidFill>
                          <a:latin typeface="Arial"/>
                          <a:ea typeface="Arial"/>
                          <a:cs typeface="Arial"/>
                          <a:sym typeface="Arial"/>
                        </a:rPr>
                        <a:t> tab (top of the screen) and then click on the </a:t>
                      </a:r>
                      <a:r>
                        <a:rPr lang="en-US" sz="2400" b="1" u="none" strike="noStrike" cap="none">
                          <a:solidFill>
                            <a:srgbClr val="D9D9D9"/>
                          </a:solidFill>
                          <a:latin typeface="Arial"/>
                          <a:ea typeface="Arial"/>
                          <a:cs typeface="Arial"/>
                          <a:sym typeface="Arial"/>
                        </a:rPr>
                        <a:t>Layout</a:t>
                      </a:r>
                      <a:r>
                        <a:rPr lang="en-US" sz="2400" u="none" strike="noStrike" cap="none">
                          <a:solidFill>
                            <a:srgbClr val="D9D9D9"/>
                          </a:solidFill>
                          <a:latin typeface="Arial"/>
                          <a:ea typeface="Arial"/>
                          <a:cs typeface="Arial"/>
                          <a:sym typeface="Arial"/>
                        </a:rPr>
                        <a:t> button below to see the available layouts. Choose the </a:t>
                      </a:r>
                      <a:r>
                        <a:rPr lang="en-US" sz="2400" b="1" u="none" strike="noStrike" cap="none">
                          <a:solidFill>
                            <a:srgbClr val="D9D9D9"/>
                          </a:solidFill>
                          <a:latin typeface="Arial"/>
                          <a:ea typeface="Arial"/>
                          <a:cs typeface="Arial"/>
                          <a:sym typeface="Arial"/>
                        </a:rPr>
                        <a:t>Without Guides </a:t>
                      </a:r>
                      <a:r>
                        <a:rPr lang="en-US" sz="2400" b="0" u="none" strike="noStrike" cap="none">
                          <a:solidFill>
                            <a:srgbClr val="D9D9D9"/>
                          </a:solidFill>
                          <a:latin typeface="Arial"/>
                          <a:ea typeface="Arial"/>
                          <a:cs typeface="Arial"/>
                          <a:sym typeface="Arial"/>
                        </a:rPr>
                        <a:t>layout</a:t>
                      </a:r>
                      <a:r>
                        <a:rPr lang="en-US" sz="2400" u="none" strike="noStrike" cap="none">
                          <a:solidFill>
                            <a:srgbClr val="D9D9D9"/>
                          </a:solidFill>
                          <a:latin typeface="Arial"/>
                          <a:ea typeface="Arial"/>
                          <a:cs typeface="Arial"/>
                          <a:sym typeface="Arial"/>
                        </a:rPr>
                        <a:t>.</a:t>
                      </a:r>
                      <a:endParaRPr sz="240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3"/>
                  </a:ext>
                </a:extLst>
              </a:tr>
              <a:tr h="2888325">
                <a:tc gridSpan="2">
                  <a:txBody>
                    <a:bodyPr/>
                    <a:lstStyle/>
                    <a:p>
                      <a:pPr marL="0" marR="0" lvl="0" indent="0" algn="l" rtl="0">
                        <a:lnSpc>
                          <a:spcPct val="100000"/>
                        </a:lnSpc>
                        <a:spcBef>
                          <a:spcPts val="0"/>
                        </a:spcBef>
                        <a:spcAft>
                          <a:spcPts val="0"/>
                        </a:spcAft>
                        <a:buClr>
                          <a:schemeClr val="dk1"/>
                        </a:buClr>
                        <a:buSzPts val="2400"/>
                        <a:buFont typeface="Calibri"/>
                        <a:buNone/>
                      </a:pPr>
                      <a:endParaRPr sz="2400"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781425">
                <a:tc gridSpan="2">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rgbClr val="FFC000"/>
                          </a:solidFill>
                          <a:latin typeface="Arial"/>
                          <a:ea typeface="Arial"/>
                          <a:cs typeface="Arial"/>
                          <a:sym typeface="Arial"/>
                        </a:rPr>
                        <a:t>How to preview your poster prior to printing</a:t>
                      </a:r>
                      <a:endParaRPr sz="2800" b="1" u="none" strike="noStrike" cap="none">
                        <a:solidFill>
                          <a:srgbClr val="FFC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u="none" strike="noStrike" cap="none">
                          <a:solidFill>
                            <a:srgbClr val="D9D9D9"/>
                          </a:solidFill>
                          <a:latin typeface="Arial"/>
                          <a:ea typeface="Arial"/>
                          <a:cs typeface="Arial"/>
                          <a:sym typeface="Arial"/>
                        </a:rPr>
                        <a:t>You can preview your poster at any time by pressing the </a:t>
                      </a:r>
                      <a:r>
                        <a:rPr lang="en-US" sz="2400" u="none" strike="noStrike" cap="none">
                          <a:solidFill>
                            <a:srgbClr val="FFC000"/>
                          </a:solidFill>
                          <a:latin typeface="Arial"/>
                          <a:ea typeface="Arial"/>
                          <a:cs typeface="Arial"/>
                          <a:sym typeface="Arial"/>
                        </a:rPr>
                        <a:t>F5 key</a:t>
                      </a:r>
                      <a:r>
                        <a:rPr lang="en-US" sz="2400" u="none" strike="noStrike" cap="none">
                          <a:solidFill>
                            <a:srgbClr val="D9D9D9"/>
                          </a:solidFill>
                          <a:latin typeface="Arial"/>
                          <a:ea typeface="Arial"/>
                          <a:cs typeface="Arial"/>
                          <a:sym typeface="Arial"/>
                        </a:rPr>
                        <a:t> on your keyboard. You will see on the screen what's on your poster and how it should look when printed. Press the </a:t>
                      </a:r>
                      <a:r>
                        <a:rPr lang="en-US" sz="2400" u="none" strike="noStrike" cap="none">
                          <a:solidFill>
                            <a:srgbClr val="FFC000"/>
                          </a:solidFill>
                          <a:latin typeface="Arial"/>
                          <a:ea typeface="Arial"/>
                          <a:cs typeface="Arial"/>
                          <a:sym typeface="Arial"/>
                        </a:rPr>
                        <a:t>ESC key </a:t>
                      </a:r>
                      <a:r>
                        <a:rPr lang="en-US" sz="2400" u="none" strike="noStrike" cap="none">
                          <a:solidFill>
                            <a:srgbClr val="D9D9D9"/>
                          </a:solidFill>
                          <a:latin typeface="Arial"/>
                          <a:ea typeface="Arial"/>
                          <a:cs typeface="Arial"/>
                          <a:sym typeface="Arial"/>
                        </a:rPr>
                        <a:t>to exit Preview.</a:t>
                      </a:r>
                      <a:endParaRPr sz="1400" u="none" strike="noStrike" cap="none"/>
                    </a:p>
                  </a:txBody>
                  <a:tcPr marL="182875" marR="91450" marT="137150" marB="45725">
                    <a:solidFill>
                      <a:srgbClr val="010101"/>
                    </a:solidFill>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500"/>
                        <a:buFont typeface="Arial"/>
                        <a:buNone/>
                      </a:pPr>
                      <a:r>
                        <a:rPr lang="en-US" sz="11500" b="1" u="none" strike="noStrike" cap="none">
                          <a:solidFill>
                            <a:srgbClr val="D9D9D9"/>
                          </a:solidFill>
                          <a:latin typeface="Arial"/>
                          <a:ea typeface="Arial"/>
                          <a:cs typeface="Arial"/>
                          <a:sym typeface="Arial"/>
                        </a:rPr>
                        <a:t>F5</a:t>
                      </a:r>
                      <a:r>
                        <a:rPr lang="en-US" sz="2400" u="none" strike="noStrike" cap="none">
                          <a:solidFill>
                            <a:srgbClr val="D9D9D9"/>
                          </a:solidFill>
                          <a:latin typeface="Arial"/>
                          <a:ea typeface="Arial"/>
                          <a:cs typeface="Arial"/>
                          <a:sym typeface="Arial"/>
                        </a:rPr>
                        <a:t> </a:t>
                      </a:r>
                      <a:endParaRPr sz="8600" u="none" strike="noStrike" cap="none"/>
                    </a:p>
                  </a:txBody>
                  <a:tcPr marL="182875" marR="91450" marT="137150" marB="45725" anchor="ctr">
                    <a:solidFill>
                      <a:srgbClr val="0C0C0C"/>
                    </a:solidFill>
                  </a:tcPr>
                </a:tc>
                <a:extLst>
                  <a:ext uri="{0D108BD9-81ED-4DB2-BD59-A6C34878D82A}">
                    <a16:rowId xmlns:a16="http://schemas.microsoft.com/office/drawing/2014/main" val="10005"/>
                  </a:ext>
                </a:extLst>
              </a:tr>
              <a:tr h="5674000">
                <a:tc gridSpan="3">
                  <a:txBody>
                    <a:bodyPr/>
                    <a:lstStyle/>
                    <a:p>
                      <a:pPr marL="0" marR="0" lvl="0" indent="0" algn="l" rtl="0">
                        <a:lnSpc>
                          <a:spcPct val="100000"/>
                        </a:lnSpc>
                        <a:spcBef>
                          <a:spcPts val="0"/>
                        </a:spcBef>
                        <a:spcAft>
                          <a:spcPts val="0"/>
                        </a:spcAft>
                        <a:buClr>
                          <a:srgbClr val="FFC000"/>
                        </a:buClr>
                        <a:buSzPts val="2800"/>
                        <a:buFont typeface="Arial"/>
                        <a:buNone/>
                      </a:pPr>
                      <a:r>
                        <a:rPr lang="en-US" sz="2800" b="1" u="none" strike="noStrike" cap="none">
                          <a:solidFill>
                            <a:srgbClr val="FFC000"/>
                          </a:solidFill>
                          <a:latin typeface="Arial"/>
                          <a:ea typeface="Arial"/>
                          <a:cs typeface="Arial"/>
                          <a:sym typeface="Arial"/>
                        </a:rPr>
                        <a:t>How to print your poster</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When you are ready to have your poster printed go online to </a:t>
                      </a:r>
                      <a:r>
                        <a:rPr lang="en-US" sz="2400" u="none" strike="noStrike" cap="none">
                          <a:solidFill>
                            <a:srgbClr val="FFC000"/>
                          </a:solidFill>
                          <a:latin typeface="Arial"/>
                          <a:ea typeface="Arial"/>
                          <a:cs typeface="Arial"/>
                          <a:sym typeface="Arial"/>
                        </a:rPr>
                        <a:t>PosterPresentations.com</a:t>
                      </a:r>
                      <a:r>
                        <a:rPr lang="en-US" sz="2400" u="none" strike="noStrike" cap="none">
                          <a:solidFill>
                            <a:srgbClr val="D9D9D9"/>
                          </a:solidFill>
                          <a:latin typeface="Arial"/>
                          <a:ea typeface="Arial"/>
                          <a:cs typeface="Arial"/>
                          <a:sym typeface="Arial"/>
                        </a:rPr>
                        <a:t> and click on the "</a:t>
                      </a:r>
                      <a:r>
                        <a:rPr lang="en-US" sz="2400" u="none" strike="noStrike" cap="none">
                          <a:solidFill>
                            <a:srgbClr val="FFC000"/>
                          </a:solidFill>
                          <a:latin typeface="Arial"/>
                          <a:ea typeface="Arial"/>
                          <a:cs typeface="Arial"/>
                          <a:sym typeface="Arial"/>
                        </a:rPr>
                        <a:t>Order Your Poster</a:t>
                      </a:r>
                      <a:r>
                        <a:rPr lang="en-US" sz="2400" u="none" strike="noStrike" cap="none">
                          <a:solidFill>
                            <a:srgbClr val="D9D9D9"/>
                          </a:solidFill>
                          <a:latin typeface="Arial"/>
                          <a:ea typeface="Arial"/>
                          <a:cs typeface="Arial"/>
                          <a:sym typeface="Arial"/>
                        </a:rPr>
                        <a:t>" button. You can have your poster printed on professional papers, fabric for easy traveling and a variety of other materials. </a:t>
                      </a:r>
                      <a:endParaRPr sz="1400" u="none" strike="noStrike" cap="none"/>
                    </a:p>
                    <a:p>
                      <a:pPr marL="0" marR="0" lvl="0" indent="0" algn="l" rtl="0">
                        <a:lnSpc>
                          <a:spcPct val="100000"/>
                        </a:lnSpc>
                        <a:spcBef>
                          <a:spcPts val="0"/>
                        </a:spcBef>
                        <a:spcAft>
                          <a:spcPts val="0"/>
                        </a:spcAft>
                        <a:buClr>
                          <a:srgbClr val="D9D9D9"/>
                        </a:buClr>
                        <a:buSzPts val="2400"/>
                        <a:buFont typeface="Arial"/>
                        <a:buNone/>
                      </a:pPr>
                      <a:r>
                        <a:rPr lang="en-US" sz="2400" u="none" strike="noStrike" cap="none">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sz="1400" u="none" strike="noStrike" cap="none"/>
                    </a:p>
                    <a:p>
                      <a:pPr marL="0" marR="0" lvl="0" indent="0" algn="l" rtl="0">
                        <a:lnSpc>
                          <a:spcPct val="100000"/>
                        </a:lnSpc>
                        <a:spcBef>
                          <a:spcPts val="0"/>
                        </a:spcBef>
                        <a:spcAft>
                          <a:spcPts val="0"/>
                        </a:spcAft>
                        <a:buClr>
                          <a:srgbClr val="D9D9D9"/>
                        </a:buClr>
                        <a:buSzPts val="2400"/>
                        <a:buFont typeface="Arial"/>
                        <a:buNone/>
                      </a:pPr>
                      <a:br>
                        <a:rPr lang="en-US" sz="2400" u="none" strike="noStrike" cap="none">
                          <a:solidFill>
                            <a:srgbClr val="D9D9D9"/>
                          </a:solidFill>
                          <a:latin typeface="Arial"/>
                          <a:ea typeface="Arial"/>
                          <a:cs typeface="Arial"/>
                          <a:sym typeface="Arial"/>
                        </a:rPr>
                      </a:br>
                      <a:r>
                        <a:rPr lang="en-US" sz="2400" u="none" strike="noStrike" cap="none">
                          <a:solidFill>
                            <a:srgbClr val="D9D9D9"/>
                          </a:solidFill>
                          <a:latin typeface="Arial"/>
                          <a:ea typeface="Arial"/>
                          <a:cs typeface="Arial"/>
                          <a:sym typeface="Arial"/>
                        </a:rPr>
                        <a:t>Go to </a:t>
                      </a:r>
                      <a:r>
                        <a:rPr lang="en-US" sz="2400" u="none" strike="noStrike" cap="none">
                          <a:solidFill>
                            <a:srgbClr val="FFC000"/>
                          </a:solidFill>
                          <a:latin typeface="Arial"/>
                          <a:ea typeface="Arial"/>
                          <a:cs typeface="Arial"/>
                          <a:sym typeface="Arial"/>
                        </a:rPr>
                        <a:t>PosterPresentations.com</a:t>
                      </a:r>
                      <a:r>
                        <a:rPr lang="en-US" sz="2400" u="none" strike="noStrike" cap="none">
                          <a:solidFill>
                            <a:srgbClr val="D9D9D9"/>
                          </a:solidFill>
                          <a:latin typeface="Arial"/>
                          <a:ea typeface="Arial"/>
                          <a:cs typeface="Arial"/>
                          <a:sym typeface="Arial"/>
                        </a:rPr>
                        <a:t> for more information.</a:t>
                      </a:r>
                      <a:endParaRPr sz="1400" u="none" strike="noStrike" cap="none"/>
                    </a:p>
                  </a:txBody>
                  <a:tcPr marL="182875" marR="91450" marT="137150" marB="457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354775">
                <a:tc gridSpan="3">
                  <a:txBody>
                    <a:bodyPr/>
                    <a:lstStyle/>
                    <a:p>
                      <a:pPr marL="0" marR="0" lvl="0" indent="0" algn="l" rtl="0">
                        <a:lnSpc>
                          <a:spcPct val="100000"/>
                        </a:lnSpc>
                        <a:spcBef>
                          <a:spcPts val="0"/>
                        </a:spcBef>
                        <a:spcAft>
                          <a:spcPts val="0"/>
                        </a:spcAft>
                        <a:buClr>
                          <a:srgbClr val="000000"/>
                        </a:buClr>
                        <a:buSzPts val="2400"/>
                        <a:buFont typeface="Arial"/>
                        <a:buNone/>
                      </a:pPr>
                      <a:endParaRPr sz="2400" u="none" strike="noStrike" cap="none">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212200">
                <a:tc>
                  <a:txBody>
                    <a:bodyPr/>
                    <a:lstStyle/>
                    <a:p>
                      <a:pPr marL="0" marR="0" lvl="0" indent="0" algn="l" rtl="0">
                        <a:lnSpc>
                          <a:spcPct val="130000"/>
                        </a:lnSpc>
                        <a:spcBef>
                          <a:spcPts val="0"/>
                        </a:spcBef>
                        <a:spcAft>
                          <a:spcPts val="0"/>
                        </a:spcAft>
                        <a:buClr>
                          <a:srgbClr val="000000"/>
                        </a:buClr>
                        <a:buSzPts val="2000"/>
                        <a:buFont typeface="Arial"/>
                        <a:buNone/>
                      </a:pPr>
                      <a:r>
                        <a:rPr lang="en-US" sz="2000" u="none" strike="noStrike" cap="none">
                          <a:solidFill>
                            <a:srgbClr val="D8D8D8"/>
                          </a:solidFill>
                          <a:latin typeface="Arial"/>
                          <a:ea typeface="Arial"/>
                          <a:cs typeface="Arial"/>
                          <a:sym typeface="Arial"/>
                        </a:rPr>
                        <a:t>© 2019 PosterPresentations.com</a:t>
                      </a:r>
                      <a:br>
                        <a:rPr lang="en-US" sz="2000" u="none" strike="noStrike" cap="none">
                          <a:solidFill>
                            <a:srgbClr val="D8D8D8"/>
                          </a:solidFill>
                          <a:latin typeface="Arial"/>
                          <a:ea typeface="Arial"/>
                          <a:cs typeface="Arial"/>
                          <a:sym typeface="Arial"/>
                        </a:rPr>
                      </a:br>
                      <a:r>
                        <a:rPr lang="en-US" sz="2000" u="none" strike="noStrike" cap="none">
                          <a:solidFill>
                            <a:srgbClr val="D8D8D8"/>
                          </a:solidFill>
                          <a:latin typeface="Arial"/>
                          <a:ea typeface="Arial"/>
                          <a:cs typeface="Arial"/>
                          <a:sym typeface="Arial"/>
                        </a:rPr>
                        <a:t>2117 Fourth Street , STE C        </a:t>
                      </a:r>
                      <a:endParaRPr sz="1400" u="none" strike="noStrike" cap="none"/>
                    </a:p>
                    <a:p>
                      <a:pPr marL="0" marR="0" lvl="0" indent="0" algn="l" rtl="0">
                        <a:lnSpc>
                          <a:spcPct val="130000"/>
                        </a:lnSpc>
                        <a:spcBef>
                          <a:spcPts val="0"/>
                        </a:spcBef>
                        <a:spcAft>
                          <a:spcPts val="0"/>
                        </a:spcAft>
                        <a:buClr>
                          <a:srgbClr val="000000"/>
                        </a:buClr>
                        <a:buSzPts val="2000"/>
                        <a:buFont typeface="Arial"/>
                        <a:buNone/>
                      </a:pPr>
                      <a:r>
                        <a:rPr lang="en-US" sz="2000" u="none" strike="noStrike" cap="none">
                          <a:solidFill>
                            <a:srgbClr val="D8D8D8"/>
                          </a:solidFill>
                          <a:latin typeface="Arial"/>
                          <a:ea typeface="Arial"/>
                          <a:cs typeface="Arial"/>
                          <a:sym typeface="Arial"/>
                        </a:rPr>
                        <a:t>Berkeley CA 94710 USA</a:t>
                      </a:r>
                      <a:endParaRPr sz="2000" u="none" strike="noStrike" cap="none">
                        <a:solidFill>
                          <a:srgbClr val="D8D8D8"/>
                        </a:solidFill>
                        <a:latin typeface="Arial"/>
                        <a:ea typeface="Arial"/>
                        <a:cs typeface="Arial"/>
                        <a:sym typeface="Arial"/>
                      </a:endParaRPr>
                    </a:p>
                  </a:txBody>
                  <a:tcPr marL="182875" marR="91450" marT="137150" marB="45725">
                    <a:solidFill>
                      <a:srgbClr val="010101"/>
                    </a:solidFill>
                  </a:tcPr>
                </a:tc>
                <a:tc gridSpan="2">
                  <a:txBody>
                    <a:bodyPr/>
                    <a:lstStyle/>
                    <a:p>
                      <a:pPr marL="0" marR="0" lvl="0" indent="0" algn="l" rtl="0">
                        <a:lnSpc>
                          <a:spcPct val="100000"/>
                        </a:lnSpc>
                        <a:spcBef>
                          <a:spcPts val="0"/>
                        </a:spcBef>
                        <a:spcAft>
                          <a:spcPts val="0"/>
                        </a:spcAft>
                        <a:buClr>
                          <a:srgbClr val="D0D0D0"/>
                        </a:buClr>
                        <a:buSzPts val="2400"/>
                        <a:buFont typeface="Arial"/>
                        <a:buNone/>
                      </a:pPr>
                      <a:r>
                        <a:rPr lang="en-US" sz="2400" b="1" u="none" strike="noStrike" cap="none">
                          <a:solidFill>
                            <a:srgbClr val="D0D0D0"/>
                          </a:solidFill>
                          <a:latin typeface="Arial"/>
                          <a:ea typeface="Arial"/>
                          <a:cs typeface="Arial"/>
                          <a:sym typeface="Arial"/>
                        </a:rPr>
                        <a:t>For complete tutorials visit:</a:t>
                      </a:r>
                      <a:endParaRPr sz="1400" u="none" strike="noStrike" cap="none"/>
                    </a:p>
                    <a:p>
                      <a:pPr marL="0" marR="0" lvl="0" indent="0" algn="l" rtl="0">
                        <a:lnSpc>
                          <a:spcPct val="100000"/>
                        </a:lnSpc>
                        <a:spcBef>
                          <a:spcPts val="0"/>
                        </a:spcBef>
                        <a:spcAft>
                          <a:spcPts val="0"/>
                        </a:spcAft>
                        <a:buClr>
                          <a:srgbClr val="FFC000"/>
                        </a:buClr>
                        <a:buSzPts val="1800"/>
                        <a:buFont typeface="Arial"/>
                        <a:buNone/>
                      </a:pPr>
                      <a:r>
                        <a:rPr lang="en-US" sz="1800" b="1" u="none" strike="noStrike" cap="none">
                          <a:solidFill>
                            <a:srgbClr val="FFC000"/>
                          </a:solidFill>
                          <a:latin typeface="Arial"/>
                          <a:ea typeface="Arial"/>
                          <a:cs typeface="Arial"/>
                          <a:sym typeface="Arial"/>
                        </a:rPr>
                        <a:t>https://www.posterpresentations.com/helpdesk.html</a:t>
                      </a:r>
                      <a:endParaRPr sz="1800" u="none" strike="noStrike" cap="none">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8"/>
                  </a:ext>
                </a:extLst>
              </a:tr>
            </a:tbl>
          </a:graphicData>
        </a:graphic>
      </p:graphicFrame>
      <p:cxnSp>
        <p:nvCxnSpPr>
          <p:cNvPr id="13" name="Google Shape;13;p2"/>
          <p:cNvCxnSpPr/>
          <p:nvPr/>
        </p:nvCxnSpPr>
        <p:spPr>
          <a:xfrm>
            <a:off x="0" y="32040576"/>
            <a:ext cx="43891200" cy="0"/>
          </a:xfrm>
          <a:prstGeom prst="straightConnector1">
            <a:avLst/>
          </a:prstGeom>
          <a:noFill/>
          <a:ln w="9525" cap="flat" cmpd="sng">
            <a:solidFill>
              <a:srgbClr val="A1A1A1"/>
            </a:solidFill>
            <a:prstDash val="solid"/>
            <a:round/>
            <a:headEnd type="none" w="sm" len="sm"/>
            <a:tailEnd type="none" w="sm" len="sm"/>
          </a:ln>
        </p:spPr>
      </p:cxnSp>
      <p:cxnSp>
        <p:nvCxnSpPr>
          <p:cNvPr id="14" name="Google Shape;14;p2"/>
          <p:cNvCxnSpPr/>
          <p:nvPr/>
        </p:nvCxnSpPr>
        <p:spPr>
          <a:xfrm>
            <a:off x="10972800" y="5617998"/>
            <a:ext cx="0" cy="25640935"/>
          </a:xfrm>
          <a:prstGeom prst="straightConnector1">
            <a:avLst/>
          </a:prstGeom>
          <a:noFill/>
          <a:ln w="50800" cap="rnd" cmpd="sng">
            <a:solidFill>
              <a:srgbClr val="A1A1A1"/>
            </a:solidFill>
            <a:prstDash val="dot"/>
            <a:round/>
            <a:headEnd type="none" w="sm" len="sm"/>
            <a:tailEnd type="none" w="sm" len="sm"/>
          </a:ln>
        </p:spPr>
      </p:cxnSp>
      <p:cxnSp>
        <p:nvCxnSpPr>
          <p:cNvPr id="15" name="Google Shape;15;p2"/>
          <p:cNvCxnSpPr/>
          <p:nvPr/>
        </p:nvCxnSpPr>
        <p:spPr>
          <a:xfrm>
            <a:off x="21928667" y="5617998"/>
            <a:ext cx="0" cy="25640935"/>
          </a:xfrm>
          <a:prstGeom prst="straightConnector1">
            <a:avLst/>
          </a:prstGeom>
          <a:noFill/>
          <a:ln w="50800" cap="rnd" cmpd="sng">
            <a:solidFill>
              <a:srgbClr val="A1A1A1"/>
            </a:solidFill>
            <a:prstDash val="dot"/>
            <a:round/>
            <a:headEnd type="none" w="sm" len="sm"/>
            <a:tailEnd type="none" w="sm" len="sm"/>
          </a:ln>
        </p:spPr>
      </p:cxnSp>
      <p:cxnSp>
        <p:nvCxnSpPr>
          <p:cNvPr id="16" name="Google Shape;16;p2"/>
          <p:cNvCxnSpPr/>
          <p:nvPr/>
        </p:nvCxnSpPr>
        <p:spPr>
          <a:xfrm>
            <a:off x="32867600" y="5617998"/>
            <a:ext cx="0" cy="25640935"/>
          </a:xfrm>
          <a:prstGeom prst="straightConnector1">
            <a:avLst/>
          </a:prstGeom>
          <a:noFill/>
          <a:ln w="50800" cap="rnd" cmpd="sng">
            <a:solidFill>
              <a:srgbClr val="A1A1A1"/>
            </a:solidFill>
            <a:prstDash val="dot"/>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jpe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11" Type="http://schemas.openxmlformats.org/officeDocument/2006/relationships/image" Target="../media/image8.jpe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hyperlink" Target="https://arxiv.org/abs/2303.08774" TargetMode="External"/><Relationship Id="rId9" Type="http://schemas.openxmlformats.org/officeDocument/2006/relationships/image" Target="../media/image6.jpe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pic>
        <p:nvPicPr>
          <p:cNvPr id="3" name="Picture 2" descr="A chart with different colored squares&#10;&#10;AI-generated content may be incorrect.">
            <a:extLst>
              <a:ext uri="{FF2B5EF4-FFF2-40B4-BE49-F238E27FC236}">
                <a16:creationId xmlns:a16="http://schemas.microsoft.com/office/drawing/2014/main" id="{5AACC3C4-7A63-2D6B-B5A4-F29FD086FF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47990" y="13715433"/>
            <a:ext cx="9306409" cy="9105780"/>
          </a:xfrm>
          <a:prstGeom prst="rect">
            <a:avLst/>
          </a:prstGeom>
          <a:noFill/>
          <a:ln>
            <a:noFill/>
          </a:ln>
        </p:spPr>
      </p:pic>
      <p:sp>
        <p:nvSpPr>
          <p:cNvPr id="38" name="Google Shape;38;p1"/>
          <p:cNvSpPr txBox="1">
            <a:spLocks noGrp="1"/>
          </p:cNvSpPr>
          <p:nvPr>
            <p:ph type="body" idx="1"/>
          </p:nvPr>
        </p:nvSpPr>
        <p:spPr>
          <a:xfrm>
            <a:off x="459674" y="5617998"/>
            <a:ext cx="10056813" cy="7564185"/>
          </a:xfrm>
          <a:prstGeom prst="rect">
            <a:avLst/>
          </a:prstGeom>
          <a:solidFill>
            <a:srgbClr val="D9D2E9"/>
          </a:solidFill>
          <a:ln>
            <a:noFill/>
          </a:ln>
        </p:spPr>
        <p:txBody>
          <a:bodyPr spcFirstLastPara="1" wrap="square" lIns="228575" tIns="228575" rIns="228575" bIns="228575" anchor="t" anchorCtr="0">
            <a:noAutofit/>
          </a:bodyPr>
          <a:lstStyle/>
          <a:p>
            <a:pPr marL="0" indent="0">
              <a:lnSpc>
                <a:spcPct val="114999"/>
              </a:lnSpc>
              <a:spcBef>
                <a:spcPts val="1200"/>
              </a:spcBef>
              <a:buSzPts val="1100"/>
            </a:pPr>
            <a:r>
              <a:rPr lang="en-US" sz="3300" b="1" dirty="0">
                <a:solidFill>
                  <a:srgbClr val="1F3A4E"/>
                </a:solidFill>
              </a:rPr>
              <a:t>This study investigates the potential of large language models (LLMs), specifically GPT-4o and GPT-4 Turbo, to assist in robotic navigation tasks within simulated maze environments. </a:t>
            </a:r>
            <a:r>
              <a:rPr lang="en-US" sz="3300" dirty="0">
                <a:solidFill>
                  <a:srgbClr val="1F3A4E"/>
                </a:solidFill>
              </a:rPr>
              <a:t>Despite LLMs being fundamentally trained as next-token predictors on internet-scale data, they demonstrate emergent reasoning and perception capabilities that may be applicable to spatial navigation challenges. Further, we found that models with a built-in multi-modal design</a:t>
            </a:r>
            <a:r>
              <a:rPr lang="en-US" sz="3300" b="1" dirty="0">
                <a:solidFill>
                  <a:srgbClr val="1F3A4E"/>
                </a:solidFill>
              </a:rPr>
              <a:t>* </a:t>
            </a:r>
            <a:r>
              <a:rPr lang="en-US" sz="3300" dirty="0">
                <a:solidFill>
                  <a:srgbClr val="1F3A4E"/>
                </a:solidFill>
              </a:rPr>
              <a:t>significantly outperforms the one where such capabilities were added later to the model.</a:t>
            </a:r>
          </a:p>
        </p:txBody>
      </p:sp>
      <p:sp>
        <p:nvSpPr>
          <p:cNvPr id="39" name="Google Shape;39;p1"/>
          <p:cNvSpPr txBox="1">
            <a:spLocks noGrp="1"/>
          </p:cNvSpPr>
          <p:nvPr>
            <p:ph type="body" idx="2"/>
          </p:nvPr>
        </p:nvSpPr>
        <p:spPr>
          <a:xfrm>
            <a:off x="430263" y="13377390"/>
            <a:ext cx="10050462" cy="615545"/>
          </a:xfrm>
          <a:prstGeom prst="rect">
            <a:avLst/>
          </a:prstGeom>
          <a:solidFill>
            <a:srgbClr val="6FA8DC"/>
          </a:solid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chemeClr val="lt1"/>
              </a:buClr>
              <a:buSzPts val="2800"/>
              <a:buNone/>
            </a:pPr>
            <a:r>
              <a:rPr lang="en-US"/>
              <a:t>Introduction</a:t>
            </a:r>
            <a:endParaRPr/>
          </a:p>
        </p:txBody>
      </p:sp>
      <p:sp>
        <p:nvSpPr>
          <p:cNvPr id="40" name="Google Shape;40;p1"/>
          <p:cNvSpPr txBox="1">
            <a:spLocks noGrp="1"/>
          </p:cNvSpPr>
          <p:nvPr>
            <p:ph type="body" idx="3"/>
          </p:nvPr>
        </p:nvSpPr>
        <p:spPr>
          <a:xfrm>
            <a:off x="11460150" y="6347250"/>
            <a:ext cx="10048800" cy="7934512"/>
          </a:xfrm>
          <a:prstGeom prst="rect">
            <a:avLst/>
          </a:prstGeom>
          <a:solidFill>
            <a:srgbClr val="EFEFEF"/>
          </a:solidFill>
          <a:ln>
            <a:noFill/>
          </a:ln>
        </p:spPr>
        <p:txBody>
          <a:bodyPr spcFirstLastPara="1" wrap="square" lIns="228575" tIns="228575" rIns="228575" bIns="228575" anchor="t" anchorCtr="0">
            <a:noAutofit/>
          </a:bodyPr>
          <a:lstStyle/>
          <a:p>
            <a:pPr marL="0" lvl="0" indent="0" algn="l" rtl="0">
              <a:lnSpc>
                <a:spcPct val="100000"/>
              </a:lnSpc>
              <a:spcBef>
                <a:spcPts val="0"/>
              </a:spcBef>
              <a:spcAft>
                <a:spcPts val="0"/>
              </a:spcAft>
              <a:buSzPts val="2800"/>
              <a:buNone/>
            </a:pPr>
            <a:r>
              <a:rPr lang="en-US" sz="3200" b="1" dirty="0">
                <a:solidFill>
                  <a:schemeClr val="tx1"/>
                </a:solidFill>
                <a:latin typeface="Helvetica Neue" panose="020B0604020202020204" charset="0"/>
              </a:rPr>
              <a:t>Design:</a:t>
            </a:r>
            <a:endParaRPr sz="3200" dirty="0">
              <a:solidFill>
                <a:schemeClr val="tx1"/>
              </a:solidFill>
              <a:latin typeface="Helvetica Neue" panose="020B0604020202020204" charset="0"/>
            </a:endParaRPr>
          </a:p>
          <a:p>
            <a:pPr marL="508000" lvl="0" indent="-457200" algn="l" rtl="0">
              <a:lnSpc>
                <a:spcPct val="100000"/>
              </a:lnSpc>
              <a:spcBef>
                <a:spcPts val="0"/>
              </a:spcBef>
              <a:spcAft>
                <a:spcPts val="0"/>
              </a:spcAft>
              <a:buClr>
                <a:schemeClr val="dk1"/>
              </a:buClr>
              <a:buSzPct val="150000"/>
              <a:buFont typeface="Arial" panose="020B0604020202020204" pitchFamily="34" charset="0"/>
              <a:buChar char="•"/>
            </a:pPr>
            <a:r>
              <a:rPr lang="en-US" sz="3200" dirty="0">
                <a:solidFill>
                  <a:schemeClr val="tx1"/>
                </a:solidFill>
              </a:rPr>
              <a:t>Simulated maze environment built on ROS/Gazebo with custom hardware patches </a:t>
            </a:r>
          </a:p>
          <a:p>
            <a:pPr marL="508000" lvl="0" indent="-457200" algn="l" rtl="0">
              <a:lnSpc>
                <a:spcPct val="100000"/>
              </a:lnSpc>
              <a:spcBef>
                <a:spcPts val="0"/>
              </a:spcBef>
              <a:spcAft>
                <a:spcPts val="0"/>
              </a:spcAft>
              <a:buClr>
                <a:schemeClr val="dk1"/>
              </a:buClr>
              <a:buSzPct val="150000"/>
              <a:buFont typeface="Arial" panose="020B0604020202020204" pitchFamily="34" charset="0"/>
              <a:buChar char="•"/>
            </a:pPr>
            <a:r>
              <a:rPr lang="en-US" sz="3200" dirty="0">
                <a:solidFill>
                  <a:schemeClr val="tx1"/>
                </a:solidFill>
                <a:latin typeface="Helvetica Neue" panose="020B0604020202020204" charset="0"/>
              </a:rPr>
              <a:t>Moderate-complexity maze with corridors, junctions, and dead ends </a:t>
            </a:r>
          </a:p>
          <a:p>
            <a:pPr marL="508000" lvl="0" indent="-457200" algn="l" rtl="0">
              <a:lnSpc>
                <a:spcPct val="100000"/>
              </a:lnSpc>
              <a:spcBef>
                <a:spcPts val="0"/>
              </a:spcBef>
              <a:spcAft>
                <a:spcPts val="0"/>
              </a:spcAft>
              <a:buClr>
                <a:schemeClr val="dk1"/>
              </a:buClr>
              <a:buSzPct val="150000"/>
              <a:buFont typeface="Arial" panose="020B0604020202020204" pitchFamily="34" charset="0"/>
              <a:buChar char="•"/>
            </a:pPr>
            <a:r>
              <a:rPr lang="en-US" sz="3200" dirty="0">
                <a:solidFill>
                  <a:schemeClr val="tx1"/>
                </a:solidFill>
                <a:latin typeface="Helvetica Neue" panose="020B0604020202020204" charset="0"/>
              </a:rPr>
              <a:t>Two navigation objectives: </a:t>
            </a:r>
          </a:p>
          <a:p>
            <a:pPr lvl="1" indent="-406400">
              <a:spcBef>
                <a:spcPts val="0"/>
              </a:spcBef>
              <a:buSzPts val="2800"/>
              <a:buFont typeface="Wingdings"/>
              <a:buChar char="§"/>
            </a:pPr>
            <a:r>
              <a:rPr lang="en-US" sz="3200" dirty="0">
                <a:solidFill>
                  <a:schemeClr val="tx1"/>
                </a:solidFill>
                <a:latin typeface="Helvetica Neue"/>
              </a:rPr>
              <a:t>Contact grey wall, then orange wall after a 180° turn </a:t>
            </a:r>
          </a:p>
          <a:p>
            <a:pPr lvl="1" indent="-406400">
              <a:spcBef>
                <a:spcPts val="0"/>
              </a:spcBef>
              <a:buSzPts val="2800"/>
              <a:buFont typeface="Wingdings"/>
              <a:buChar char="§"/>
            </a:pPr>
            <a:r>
              <a:rPr lang="en-US" sz="3200" dirty="0">
                <a:solidFill>
                  <a:schemeClr val="tx1"/>
                </a:solidFill>
                <a:latin typeface="Helvetica Neue" panose="020B0604020202020204" charset="0"/>
              </a:rPr>
              <a:t>Contact blue pillar (more difficult due to scarcity of blue pillars)</a:t>
            </a:r>
          </a:p>
          <a:p>
            <a:pPr marL="508000" indent="-457200">
              <a:spcBef>
                <a:spcPts val="0"/>
              </a:spcBef>
              <a:buClr>
                <a:schemeClr val="tx1"/>
              </a:buClr>
              <a:buSzPct val="150000"/>
              <a:buChar char="•"/>
            </a:pPr>
            <a:r>
              <a:rPr lang="en-US" sz="3200" dirty="0">
                <a:solidFill>
                  <a:schemeClr val="tx1"/>
                </a:solidFill>
                <a:latin typeface="Helvetica Neue" panose="020B0604020202020204" charset="0"/>
              </a:rPr>
              <a:t>Limited environmental knowledge to require genuine LLM navigational reasoning </a:t>
            </a:r>
          </a:p>
          <a:p>
            <a:pPr marL="508000" indent="-457200">
              <a:spcBef>
                <a:spcPts val="0"/>
              </a:spcBef>
              <a:buClr>
                <a:srgbClr val="0D0D0D"/>
              </a:buClr>
              <a:buSzPct val="150000"/>
              <a:buChar char="•"/>
            </a:pPr>
            <a:r>
              <a:rPr lang="en-US" sz="3200" dirty="0">
                <a:solidFill>
                  <a:schemeClr val="tx1"/>
                </a:solidFill>
                <a:latin typeface="Helvetica Neue" panose="020B0604020202020204" charset="0"/>
              </a:rPr>
              <a:t>Sensor configuration: </a:t>
            </a:r>
          </a:p>
          <a:p>
            <a:pPr marL="965200" lvl="1" indent="-457200">
              <a:spcBef>
                <a:spcPts val="0"/>
              </a:spcBef>
              <a:buSzPts val="2800"/>
              <a:buFont typeface="Wingdings"/>
              <a:buChar char="§"/>
            </a:pPr>
            <a:r>
              <a:rPr lang="en-US" sz="3200" dirty="0">
                <a:solidFill>
                  <a:schemeClr val="tx1"/>
                </a:solidFill>
                <a:latin typeface="Helvetica Neue" panose="020B0604020202020204" charset="0"/>
              </a:rPr>
              <a:t>Front-facing RGB camera</a:t>
            </a:r>
          </a:p>
          <a:p>
            <a:pPr marL="965200" lvl="1" indent="-457200">
              <a:spcBef>
                <a:spcPts val="0"/>
              </a:spcBef>
              <a:buSzPts val="2800"/>
              <a:buFont typeface="Wingdings"/>
              <a:buChar char="§"/>
            </a:pPr>
            <a:r>
              <a:rPr lang="en-US" sz="3200" dirty="0">
                <a:solidFill>
                  <a:schemeClr val="tx1"/>
                </a:solidFill>
                <a:latin typeface="Helvetica Neue" panose="020B0604020202020204" charset="0"/>
              </a:rPr>
              <a:t>LIDAR sensor generating point cloud data</a:t>
            </a:r>
          </a:p>
          <a:p>
            <a:pPr marL="508000" lvl="1" indent="0">
              <a:spcBef>
                <a:spcPts val="0"/>
              </a:spcBef>
              <a:buSzPts val="2800"/>
              <a:buNone/>
            </a:pPr>
            <a:endParaRPr lang="en-US" sz="3200" dirty="0">
              <a:solidFill>
                <a:schemeClr val="tx1"/>
              </a:solidFill>
              <a:latin typeface="Helvetica Neue" panose="020B0604020202020204" charset="0"/>
            </a:endParaRPr>
          </a:p>
        </p:txBody>
      </p:sp>
      <p:sp>
        <p:nvSpPr>
          <p:cNvPr id="41" name="Google Shape;41;p1"/>
          <p:cNvSpPr txBox="1">
            <a:spLocks noGrp="1"/>
          </p:cNvSpPr>
          <p:nvPr>
            <p:ph type="body" idx="4"/>
          </p:nvPr>
        </p:nvSpPr>
        <p:spPr>
          <a:xfrm>
            <a:off x="11460162" y="5617998"/>
            <a:ext cx="10048800" cy="615600"/>
          </a:xfrm>
          <a:prstGeom prst="rect">
            <a:avLst/>
          </a:prstGeom>
          <a:solidFill>
            <a:srgbClr val="6FA8DC"/>
          </a:solid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chemeClr val="lt1"/>
              </a:buClr>
              <a:buSzPts val="2800"/>
              <a:buNone/>
            </a:pPr>
            <a:r>
              <a:rPr lang="en-US"/>
              <a:t>Experiment</a:t>
            </a:r>
            <a:endParaRPr/>
          </a:p>
        </p:txBody>
      </p:sp>
      <p:sp>
        <p:nvSpPr>
          <p:cNvPr id="42" name="Google Shape;42;p1"/>
          <p:cNvSpPr txBox="1">
            <a:spLocks noGrp="1"/>
          </p:cNvSpPr>
          <p:nvPr>
            <p:ph type="body" idx="6"/>
          </p:nvPr>
        </p:nvSpPr>
        <p:spPr>
          <a:xfrm>
            <a:off x="22377404" y="5617998"/>
            <a:ext cx="10058400" cy="615600"/>
          </a:xfrm>
          <a:prstGeom prst="rect">
            <a:avLst/>
          </a:prstGeom>
          <a:solidFill>
            <a:srgbClr val="6FA8DC"/>
          </a:solid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chemeClr val="lt1"/>
              </a:buClr>
              <a:buSzPts val="2800"/>
              <a:buNone/>
            </a:pPr>
            <a:r>
              <a:rPr lang="en-US" dirty="0"/>
              <a:t>Prompt Design</a:t>
            </a:r>
            <a:endParaRPr dirty="0"/>
          </a:p>
        </p:txBody>
      </p:sp>
      <p:sp>
        <p:nvSpPr>
          <p:cNvPr id="43" name="Google Shape;43;p1"/>
          <p:cNvSpPr txBox="1">
            <a:spLocks noGrp="1"/>
          </p:cNvSpPr>
          <p:nvPr>
            <p:ph type="body" idx="7"/>
          </p:nvPr>
        </p:nvSpPr>
        <p:spPr>
          <a:xfrm>
            <a:off x="33390292" y="5617998"/>
            <a:ext cx="10047018" cy="615545"/>
          </a:xfrm>
          <a:prstGeom prst="rect">
            <a:avLst/>
          </a:prstGeom>
          <a:solidFill>
            <a:srgbClr val="6FA8DC"/>
          </a:solid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chemeClr val="lt1"/>
              </a:buClr>
              <a:buSzPts val="2800"/>
              <a:buNone/>
            </a:pPr>
            <a:r>
              <a:rPr lang="en-US" dirty="0"/>
              <a:t>Conclusion</a:t>
            </a:r>
            <a:endParaRPr dirty="0"/>
          </a:p>
        </p:txBody>
      </p:sp>
      <p:sp>
        <p:nvSpPr>
          <p:cNvPr id="44" name="Google Shape;44;p1"/>
          <p:cNvSpPr txBox="1">
            <a:spLocks noGrp="1"/>
          </p:cNvSpPr>
          <p:nvPr>
            <p:ph type="body" idx="8"/>
          </p:nvPr>
        </p:nvSpPr>
        <p:spPr>
          <a:xfrm>
            <a:off x="33443852" y="6347250"/>
            <a:ext cx="10047000" cy="7386587"/>
          </a:xfrm>
          <a:prstGeom prst="rect">
            <a:avLst/>
          </a:prstGeom>
          <a:solidFill>
            <a:srgbClr val="EFEFEF"/>
          </a:solidFill>
          <a:ln>
            <a:noFill/>
          </a:ln>
        </p:spPr>
        <p:txBody>
          <a:bodyPr spcFirstLastPara="1" wrap="square" lIns="228575" tIns="228575" rIns="228575" bIns="228575" anchor="t" anchorCtr="0">
            <a:spAutoFit/>
          </a:bodyPr>
          <a:lstStyle/>
          <a:p>
            <a:pPr marL="0" indent="0">
              <a:spcBef>
                <a:spcPts val="0"/>
              </a:spcBef>
              <a:buClr>
                <a:schemeClr val="dk1"/>
              </a:buClr>
              <a:buSzPts val="1100"/>
            </a:pPr>
            <a:r>
              <a:rPr lang="en-US" sz="30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Although GPT-4 Turbo, a stronger model, completes tasks with fewer trials, our findings indicate that GPT-4o's native multi-modal design gives it a distinct advantage in visual navigation tasks. Despite having fewer parameters, GPT-4o outperforms GPT-4 Turbo in navigation, suggesting that </a:t>
            </a:r>
            <a:r>
              <a:rPr lang="en-US" sz="3000"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built-in vision capabilities enable better multi-modal reasoning</a:t>
            </a:r>
            <a:r>
              <a:rPr lang="en-US" sz="30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 This highlights distinct designs: while GPT-4 Turbo is optimized for speed and language problem-solving, GPT-4o’s strength lies in its integrated perception and cognition. Our results suggest that models natively designed with multi-modal capabilities are better suited for tasks demanding environmental interaction than those in which such capabilities are added after the model was originally built.</a:t>
            </a:r>
          </a:p>
        </p:txBody>
      </p:sp>
      <p:sp>
        <p:nvSpPr>
          <p:cNvPr id="45" name="Google Shape;45;p1"/>
          <p:cNvSpPr txBox="1">
            <a:spLocks noGrp="1"/>
          </p:cNvSpPr>
          <p:nvPr>
            <p:ph type="body" idx="9"/>
          </p:nvPr>
        </p:nvSpPr>
        <p:spPr>
          <a:xfrm>
            <a:off x="33412989" y="13973962"/>
            <a:ext cx="10047000" cy="615600"/>
          </a:xfrm>
          <a:prstGeom prst="rect">
            <a:avLst/>
          </a:prstGeom>
          <a:solidFill>
            <a:srgbClr val="6FA8DC"/>
          </a:solid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chemeClr val="lt1"/>
              </a:buClr>
              <a:buSzPts val="2800"/>
              <a:buNone/>
            </a:pPr>
            <a:r>
              <a:rPr lang="en-US" dirty="0"/>
              <a:t>Future Work</a:t>
            </a:r>
            <a:endParaRPr dirty="0"/>
          </a:p>
        </p:txBody>
      </p:sp>
      <p:sp>
        <p:nvSpPr>
          <p:cNvPr id="46" name="Google Shape;46;p1"/>
          <p:cNvSpPr txBox="1">
            <a:spLocks noGrp="1"/>
          </p:cNvSpPr>
          <p:nvPr>
            <p:ph type="body" idx="13"/>
          </p:nvPr>
        </p:nvSpPr>
        <p:spPr>
          <a:xfrm>
            <a:off x="33388353" y="14805862"/>
            <a:ext cx="10052100" cy="6924922"/>
          </a:xfrm>
          <a:prstGeom prst="rect">
            <a:avLst/>
          </a:prstGeom>
          <a:solidFill>
            <a:srgbClr val="EFEFEF"/>
          </a:solidFill>
          <a:ln>
            <a:noFill/>
          </a:ln>
        </p:spPr>
        <p:txBody>
          <a:bodyPr spcFirstLastPara="1" wrap="square" lIns="228575" tIns="228575" rIns="228575" bIns="228575" anchor="t" anchorCtr="0">
            <a:spAutoFit/>
          </a:bodyPr>
          <a:lstStyle/>
          <a:p>
            <a:pPr marR="0" lvl="0" indent="-4572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Refine Prompts by Model Behavior:</a:t>
            </a:r>
            <a:br>
              <a:rPr kumimoji="0" lang="en-US" altLang="en-US"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br>
            <a:r>
              <a:rPr kumimoji="0" lang="en-US" altLang="en-US"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Study each model’s behavior and adapt prompts to better suit their unique strengths.</a:t>
            </a:r>
          </a:p>
          <a:p>
            <a:pPr indent="-457200" eaLnBrk="0" fontAlgn="base" hangingPunct="0">
              <a:spcBef>
                <a:spcPct val="0"/>
              </a:spcBef>
              <a:spcAft>
                <a:spcPct val="0"/>
              </a:spcAft>
              <a:buClrTx/>
              <a:buSzPct val="150000"/>
              <a:buFont typeface="Arial" panose="020B0604020202020204" pitchFamily="34" charset="0"/>
              <a:buChar char="•"/>
            </a:pPr>
            <a:r>
              <a:rPr lang="en-US" b="1"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Test Reasoning Models:</a:t>
            </a:r>
            <a:b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br>
            <a:r>
              <a:rPr lang="en-US"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Create new tasks to evaluate how reasoning models like o1 and Deepseek-R1 handle complex reasoning challenges.</a:t>
            </a:r>
            <a:endParaRPr kumimoji="0" lang="en-US" altLang="en-US"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R="0" lvl="0" indent="-4572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Build a Visual-Reasoning Pipeline:</a:t>
            </a:r>
            <a:br>
              <a:rPr kumimoji="0" lang="en-US" altLang="en-US"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br>
            <a:r>
              <a:rPr kumimoji="0" lang="en-US" altLang="en-US"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Use a visual model to interpret images and pass the output to a separate reasoning model for analysis and directions.</a:t>
            </a:r>
            <a:endParaRPr kumimoji="0" lang="en-US" altLang="en-US"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endParaRPr>
          </a:p>
          <a:p>
            <a:pPr marR="0" lvl="0" indent="-4572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Use RAG for Spatial Memory:</a:t>
            </a:r>
            <a:br>
              <a:rPr kumimoji="0" lang="en-US" altLang="en-US"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br>
            <a:r>
              <a:rPr kumimoji="0" lang="en-US" altLang="en-US" b="0" i="0" u="none" strike="noStrike" cap="none" normalizeH="0" baseline="0" dirty="0">
                <a:ln>
                  <a:noFill/>
                </a:ln>
                <a:solidFill>
                  <a:schemeClr val="tx1"/>
                </a:solidFill>
                <a:effectLst/>
                <a:latin typeface="Helvetica Neue" panose="02000503000000020004" pitchFamily="2" charset="0"/>
                <a:ea typeface="Helvetica Neue" panose="02000503000000020004" pitchFamily="2" charset="0"/>
                <a:cs typeface="Helvetica Neue" panose="02000503000000020004" pitchFamily="2" charset="0"/>
              </a:rPr>
              <a:t>Store point clouds and past visuals in a RAG system to build an evolving overhead map for better navigational reference.</a:t>
            </a:r>
          </a:p>
        </p:txBody>
      </p:sp>
      <p:sp>
        <p:nvSpPr>
          <p:cNvPr id="47" name="Google Shape;47;p1"/>
          <p:cNvSpPr txBox="1">
            <a:spLocks noGrp="1"/>
          </p:cNvSpPr>
          <p:nvPr>
            <p:ph type="body" idx="14"/>
          </p:nvPr>
        </p:nvSpPr>
        <p:spPr>
          <a:xfrm>
            <a:off x="33443834" y="21955312"/>
            <a:ext cx="10047018" cy="615545"/>
          </a:xfrm>
          <a:prstGeom prst="rect">
            <a:avLst/>
          </a:prstGeom>
          <a:solidFill>
            <a:srgbClr val="6FA8DC"/>
          </a:solidFill>
          <a:ln>
            <a:noFill/>
          </a:ln>
        </p:spPr>
        <p:txBody>
          <a:bodyPr spcFirstLastPara="1" wrap="square" lIns="91425" tIns="91425" rIns="91425" bIns="91425" anchor="ctr" anchorCtr="0">
            <a:spAutoFit/>
          </a:bodyPr>
          <a:lstStyle/>
          <a:p>
            <a:pPr marL="0" lvl="0" indent="0" algn="ctr" rtl="0">
              <a:lnSpc>
                <a:spcPct val="100000"/>
              </a:lnSpc>
              <a:spcBef>
                <a:spcPts val="0"/>
              </a:spcBef>
              <a:spcAft>
                <a:spcPts val="0"/>
              </a:spcAft>
              <a:buClr>
                <a:schemeClr val="lt1"/>
              </a:buClr>
              <a:buSzPts val="2800"/>
              <a:buNone/>
            </a:pPr>
            <a:r>
              <a:rPr lang="en-US" dirty="0"/>
              <a:t>References</a:t>
            </a:r>
            <a:endParaRPr dirty="0"/>
          </a:p>
        </p:txBody>
      </p:sp>
      <p:sp>
        <p:nvSpPr>
          <p:cNvPr id="48" name="Google Shape;48;p1"/>
          <p:cNvSpPr txBox="1">
            <a:spLocks noGrp="1"/>
          </p:cNvSpPr>
          <p:nvPr>
            <p:ph type="body" idx="15"/>
          </p:nvPr>
        </p:nvSpPr>
        <p:spPr>
          <a:xfrm>
            <a:off x="33388353" y="22690625"/>
            <a:ext cx="10047000" cy="8670015"/>
          </a:xfrm>
          <a:prstGeom prst="rect">
            <a:avLst/>
          </a:prstGeom>
          <a:solidFill>
            <a:srgbClr val="EFEFEF"/>
          </a:solidFill>
          <a:ln>
            <a:noFill/>
          </a:ln>
        </p:spPr>
        <p:txBody>
          <a:bodyPr spcFirstLastPara="1" wrap="square" lIns="228575" tIns="228575" rIns="228575" bIns="228575" anchor="t" anchorCtr="0">
            <a:spAutoFit/>
          </a:bodyPr>
          <a:lstStyle/>
          <a:p>
            <a:pPr fontAlgn="base">
              <a:lnSpc>
                <a:spcPct val="120000"/>
              </a:lnSpc>
              <a:buNone/>
            </a:pPr>
            <a:r>
              <a:rPr kumimoji="0" lang="en-US" altLang="en-US" sz="2400" b="0" i="0" u="none" strike="noStrike" cap="none" normalizeH="0" baseline="0" dirty="0">
                <a:ln>
                  <a:noFill/>
                </a:ln>
                <a:solidFill>
                  <a:schemeClr val="tx1"/>
                </a:solidFill>
                <a:effectLst/>
                <a:ea typeface="Calibri"/>
                <a:cs typeface="Calibri"/>
              </a:rPr>
              <a:t>Kim, M. J., </a:t>
            </a:r>
            <a:r>
              <a:rPr kumimoji="0" lang="en-US" altLang="en-US" sz="2400" b="0" i="0" u="none" strike="noStrike" cap="none" normalizeH="0" baseline="0" dirty="0" err="1">
                <a:ln>
                  <a:noFill/>
                </a:ln>
                <a:solidFill>
                  <a:schemeClr val="tx1"/>
                </a:solidFill>
                <a:effectLst/>
                <a:ea typeface="Calibri"/>
                <a:cs typeface="Calibri"/>
              </a:rPr>
              <a:t>Pertsch</a:t>
            </a:r>
            <a:r>
              <a:rPr kumimoji="0" lang="en-US" altLang="en-US" sz="2400" b="0" i="0" u="none" strike="noStrike" cap="none" normalizeH="0" baseline="0" dirty="0">
                <a:ln>
                  <a:noFill/>
                </a:ln>
                <a:solidFill>
                  <a:schemeClr val="tx1"/>
                </a:solidFill>
                <a:effectLst/>
                <a:ea typeface="Calibri"/>
                <a:cs typeface="Calibri"/>
              </a:rPr>
              <a:t>, K., </a:t>
            </a:r>
            <a:r>
              <a:rPr kumimoji="0" lang="en-US" altLang="en-US" sz="2400" b="0" i="0" u="none" strike="noStrike" cap="none" normalizeH="0" baseline="0" dirty="0" err="1">
                <a:ln>
                  <a:noFill/>
                </a:ln>
                <a:solidFill>
                  <a:schemeClr val="tx1"/>
                </a:solidFill>
                <a:effectLst/>
                <a:ea typeface="Calibri"/>
                <a:cs typeface="Calibri"/>
              </a:rPr>
              <a:t>Karamcheti</a:t>
            </a:r>
            <a:r>
              <a:rPr kumimoji="0" lang="en-US" altLang="en-US" sz="2400" b="0" i="0" u="none" strike="noStrike" cap="none" normalizeH="0" baseline="0" dirty="0">
                <a:ln>
                  <a:noFill/>
                </a:ln>
                <a:solidFill>
                  <a:schemeClr val="tx1"/>
                </a:solidFill>
                <a:effectLst/>
                <a:ea typeface="Calibri"/>
                <a:cs typeface="Calibri"/>
              </a:rPr>
              <a:t>, S., Xiao, T., Balakrishna, A., Nair, S., Rafailov, R., Foster, E., Lam, G., </a:t>
            </a:r>
            <a:r>
              <a:rPr kumimoji="0" lang="en-US" altLang="en-US" sz="2400" b="0" i="0" u="none" strike="noStrike" cap="none" normalizeH="0" baseline="0" dirty="0" err="1">
                <a:ln>
                  <a:noFill/>
                </a:ln>
                <a:solidFill>
                  <a:schemeClr val="tx1"/>
                </a:solidFill>
                <a:effectLst/>
                <a:ea typeface="Calibri"/>
                <a:cs typeface="Calibri"/>
              </a:rPr>
              <a:t>Sanketi</a:t>
            </a:r>
            <a:r>
              <a:rPr kumimoji="0" lang="en-US" altLang="en-US" sz="2400" b="0" i="0" u="none" strike="noStrike" cap="none" normalizeH="0" baseline="0" dirty="0">
                <a:ln>
                  <a:noFill/>
                </a:ln>
                <a:solidFill>
                  <a:schemeClr val="tx1"/>
                </a:solidFill>
                <a:effectLst/>
                <a:ea typeface="Calibri"/>
                <a:cs typeface="Calibri"/>
              </a:rPr>
              <a:t>, P., Vuong, Q., Kollar, T., Burchfiel, B., </a:t>
            </a:r>
            <a:r>
              <a:rPr kumimoji="0" lang="en-US" altLang="en-US" sz="2400" b="0" i="0" u="none" strike="noStrike" cap="none" normalizeH="0" baseline="0" dirty="0" err="1">
                <a:ln>
                  <a:noFill/>
                </a:ln>
                <a:solidFill>
                  <a:schemeClr val="tx1"/>
                </a:solidFill>
                <a:effectLst/>
                <a:ea typeface="Calibri"/>
                <a:cs typeface="Calibri"/>
              </a:rPr>
              <a:t>Tedrake</a:t>
            </a:r>
            <a:r>
              <a:rPr kumimoji="0" lang="en-US" altLang="en-US" sz="2400" b="0" i="0" u="none" strike="noStrike" cap="none" normalizeH="0" baseline="0" dirty="0">
                <a:ln>
                  <a:noFill/>
                </a:ln>
                <a:solidFill>
                  <a:schemeClr val="tx1"/>
                </a:solidFill>
                <a:effectLst/>
                <a:ea typeface="Calibri"/>
                <a:cs typeface="Calibri"/>
              </a:rPr>
              <a:t>, R., Sadigh, D., Levine, S., Liang, P., &amp; Finn, C. (2024, June 13). </a:t>
            </a:r>
            <a:r>
              <a:rPr kumimoji="0" lang="en-US" altLang="en-US" sz="2400" b="0" i="1" u="none" strike="noStrike" cap="none" normalizeH="0" baseline="0" dirty="0" err="1">
                <a:ln>
                  <a:noFill/>
                </a:ln>
                <a:solidFill>
                  <a:schemeClr val="tx1"/>
                </a:solidFill>
                <a:effectLst/>
                <a:ea typeface="Calibri"/>
                <a:cs typeface="Calibri"/>
              </a:rPr>
              <a:t>OpenVLA</a:t>
            </a:r>
            <a:r>
              <a:rPr kumimoji="0" lang="en-US" altLang="en-US" sz="2400" b="0" i="1" u="none" strike="noStrike" cap="none" normalizeH="0" baseline="0" dirty="0">
                <a:ln>
                  <a:noFill/>
                </a:ln>
                <a:solidFill>
                  <a:schemeClr val="tx1"/>
                </a:solidFill>
                <a:effectLst/>
                <a:ea typeface="Calibri"/>
                <a:cs typeface="Calibri"/>
              </a:rPr>
              <a:t>: an Open-Source Vision-Language-Action Model</a:t>
            </a:r>
            <a:r>
              <a:rPr kumimoji="0" lang="en-US" altLang="en-US" sz="2400" b="0" i="0" u="none" strike="noStrike" cap="none" normalizeH="0" baseline="0" dirty="0">
                <a:ln>
                  <a:noFill/>
                </a:ln>
                <a:solidFill>
                  <a:schemeClr val="tx1"/>
                </a:solidFill>
                <a:effectLst/>
                <a:ea typeface="Calibri"/>
                <a:cs typeface="Calibri"/>
              </a:rPr>
              <a:t>. arXiv.org. https://arxiv.org/abs/2406.09246</a:t>
            </a:r>
            <a:endParaRPr lang="en-US" sz="2400" b="0" i="0" dirty="0">
              <a:solidFill>
                <a:schemeClr val="tx1"/>
              </a:solidFill>
              <a:effectLst/>
              <a:ea typeface="Calibri"/>
              <a:cs typeface="Calibri"/>
            </a:endParaRPr>
          </a:p>
          <a:p>
            <a:pPr fontAlgn="base">
              <a:lnSpc>
                <a:spcPct val="120000"/>
              </a:lnSpc>
              <a:buNone/>
            </a:pPr>
            <a:r>
              <a:rPr kumimoji="0" lang="en-US" altLang="en-US" sz="2400" b="0" i="0" u="none" strike="noStrike" cap="none" normalizeH="0" baseline="0" dirty="0">
                <a:ln>
                  <a:noFill/>
                </a:ln>
                <a:solidFill>
                  <a:schemeClr val="tx1"/>
                </a:solidFill>
                <a:effectLst/>
                <a:ea typeface="Calibri"/>
                <a:cs typeface="Calibri"/>
              </a:rPr>
              <a:t>OpenAI, Hurst, A., Lerer, A., Goucher, A. P., Perelman, A., Ramesh, A., Clark, A., Ostrow, A., </a:t>
            </a:r>
            <a:r>
              <a:rPr kumimoji="0" lang="en-US" altLang="en-US" sz="2400" b="0" i="0" u="none" strike="noStrike" cap="none" normalizeH="0" baseline="0" dirty="0" err="1">
                <a:ln>
                  <a:noFill/>
                </a:ln>
                <a:solidFill>
                  <a:schemeClr val="tx1"/>
                </a:solidFill>
                <a:effectLst/>
                <a:ea typeface="Calibri"/>
                <a:cs typeface="Calibri"/>
              </a:rPr>
              <a:t>Welihinda</a:t>
            </a:r>
            <a:r>
              <a:rPr kumimoji="0" lang="en-US" altLang="en-US" sz="2400" b="0" i="0" u="none" strike="noStrike" cap="none" normalizeH="0" baseline="0" dirty="0">
                <a:ln>
                  <a:noFill/>
                </a:ln>
                <a:solidFill>
                  <a:schemeClr val="tx1"/>
                </a:solidFill>
                <a:effectLst/>
                <a:ea typeface="Calibri"/>
                <a:cs typeface="Calibri"/>
              </a:rPr>
              <a:t>, A., Hayes, A., Radford, A., </a:t>
            </a:r>
            <a:r>
              <a:rPr kumimoji="0" lang="en-US" altLang="en-US" sz="2400" b="0" i="0" u="none" strike="noStrike" cap="none" normalizeH="0" baseline="0" dirty="0" err="1">
                <a:ln>
                  <a:noFill/>
                </a:ln>
                <a:solidFill>
                  <a:schemeClr val="tx1"/>
                </a:solidFill>
                <a:effectLst/>
                <a:ea typeface="Calibri"/>
                <a:cs typeface="Calibri"/>
              </a:rPr>
              <a:t>Mądry</a:t>
            </a:r>
            <a:r>
              <a:rPr kumimoji="0" lang="en-US" altLang="en-US" sz="2400" b="0" i="0" u="none" strike="noStrike" cap="none" normalizeH="0" baseline="0" dirty="0">
                <a:ln>
                  <a:noFill/>
                </a:ln>
                <a:solidFill>
                  <a:schemeClr val="tx1"/>
                </a:solidFill>
                <a:effectLst/>
                <a:ea typeface="Calibri"/>
                <a:cs typeface="Calibri"/>
              </a:rPr>
              <a:t>, A., Baker-Whitcomb, A., Beutel, A., </a:t>
            </a:r>
            <a:r>
              <a:rPr kumimoji="0" lang="en-US" altLang="en-US" sz="2400" b="0" i="0" u="none" strike="noStrike" cap="none" normalizeH="0" baseline="0" dirty="0" err="1">
                <a:ln>
                  <a:noFill/>
                </a:ln>
                <a:solidFill>
                  <a:schemeClr val="tx1"/>
                </a:solidFill>
                <a:effectLst/>
                <a:ea typeface="Calibri"/>
                <a:cs typeface="Calibri"/>
              </a:rPr>
              <a:t>Borzunov</a:t>
            </a:r>
            <a:r>
              <a:rPr kumimoji="0" lang="en-US" altLang="en-US" sz="2400" b="0" i="0" u="none" strike="noStrike" cap="none" normalizeH="0" baseline="0" dirty="0">
                <a:ln>
                  <a:noFill/>
                </a:ln>
                <a:solidFill>
                  <a:schemeClr val="tx1"/>
                </a:solidFill>
                <a:effectLst/>
                <a:ea typeface="Calibri"/>
                <a:cs typeface="Calibri"/>
              </a:rPr>
              <a:t>, A., Carney, A., Chow, A., Kirillov, A., Nichol, A., . . . Malkov, Y. (2024, October 25). </a:t>
            </a:r>
            <a:r>
              <a:rPr kumimoji="0" lang="en-US" altLang="en-US" sz="2400" b="0" i="1" u="none" strike="noStrike" cap="none" normalizeH="0" baseline="0" dirty="0">
                <a:ln>
                  <a:noFill/>
                </a:ln>
                <a:solidFill>
                  <a:schemeClr val="tx1"/>
                </a:solidFill>
                <a:effectLst/>
                <a:ea typeface="Calibri"/>
                <a:cs typeface="Calibri"/>
              </a:rPr>
              <a:t>GPT-4O System Card</a:t>
            </a:r>
            <a:r>
              <a:rPr kumimoji="0" lang="en-US" altLang="en-US" sz="2400" b="0" i="0" u="none" strike="noStrike" cap="none" normalizeH="0" baseline="0" dirty="0">
                <a:ln>
                  <a:noFill/>
                </a:ln>
                <a:solidFill>
                  <a:schemeClr val="tx1"/>
                </a:solidFill>
                <a:effectLst/>
                <a:ea typeface="Calibri"/>
                <a:cs typeface="Calibri"/>
              </a:rPr>
              <a:t>. arXiv.org. https://arxiv.org/abs/2410.21276</a:t>
            </a:r>
            <a:endParaRPr lang="en-US" altLang="en-US" sz="2400" b="0" i="0" u="none" strike="noStrike" cap="none" normalizeH="0" baseline="0" dirty="0">
              <a:ln>
                <a:noFill/>
              </a:ln>
              <a:solidFill>
                <a:schemeClr val="tx1"/>
              </a:solidFill>
              <a:effectLst/>
              <a:ea typeface="Calibri"/>
              <a:cs typeface="Calibri"/>
            </a:endParaRPr>
          </a:p>
          <a:p>
            <a:pPr fontAlgn="base">
              <a:lnSpc>
                <a:spcPct val="120000"/>
              </a:lnSpc>
              <a:buNone/>
            </a:pPr>
            <a:r>
              <a:rPr kumimoji="0" lang="en-US" altLang="en-US" sz="2400" b="0" i="0" u="none" strike="noStrike" cap="none" normalizeH="0" baseline="0" dirty="0">
                <a:ln>
                  <a:noFill/>
                </a:ln>
                <a:solidFill>
                  <a:schemeClr val="tx1"/>
                </a:solidFill>
                <a:effectLst/>
                <a:ea typeface="Calibri"/>
                <a:cs typeface="Calibri"/>
              </a:rPr>
              <a:t>OpenAI, </a:t>
            </a:r>
            <a:r>
              <a:rPr kumimoji="0" lang="en-US" altLang="en-US" sz="2400" b="0" i="0" u="none" strike="noStrike" cap="none" normalizeH="0" baseline="0" dirty="0" err="1">
                <a:ln>
                  <a:noFill/>
                </a:ln>
                <a:solidFill>
                  <a:schemeClr val="tx1"/>
                </a:solidFill>
                <a:effectLst/>
                <a:ea typeface="Calibri"/>
                <a:cs typeface="Calibri"/>
              </a:rPr>
              <a:t>Achiam</a:t>
            </a:r>
            <a:r>
              <a:rPr kumimoji="0" lang="en-US" altLang="en-US" sz="2400" b="0" i="0" u="none" strike="noStrike" cap="none" normalizeH="0" baseline="0" dirty="0">
                <a:ln>
                  <a:noFill/>
                </a:ln>
                <a:solidFill>
                  <a:schemeClr val="tx1"/>
                </a:solidFill>
                <a:effectLst/>
                <a:ea typeface="Calibri"/>
                <a:cs typeface="Calibri"/>
              </a:rPr>
              <a:t>, J., Adler, S., Agarwal, S., Ahmad, L., Akkaya, I., Aleman, F. L., Almeida, D., </a:t>
            </a:r>
            <a:r>
              <a:rPr kumimoji="0" lang="en-US" altLang="en-US" sz="2400" b="0" i="0" u="none" strike="noStrike" cap="none" normalizeH="0" baseline="0" dirty="0" err="1">
                <a:ln>
                  <a:noFill/>
                </a:ln>
                <a:solidFill>
                  <a:schemeClr val="tx1"/>
                </a:solidFill>
                <a:effectLst/>
                <a:ea typeface="Calibri"/>
                <a:cs typeface="Calibri"/>
              </a:rPr>
              <a:t>Altenschmidt</a:t>
            </a:r>
            <a:r>
              <a:rPr kumimoji="0" lang="en-US" altLang="en-US" sz="2400" b="0" i="0" u="none" strike="noStrike" cap="none" normalizeH="0" baseline="0" dirty="0">
                <a:ln>
                  <a:noFill/>
                </a:ln>
                <a:solidFill>
                  <a:schemeClr val="tx1"/>
                </a:solidFill>
                <a:effectLst/>
                <a:ea typeface="Calibri"/>
                <a:cs typeface="Calibri"/>
              </a:rPr>
              <a:t>, J., Altman, S., Anadkat, S., Avila, R., </a:t>
            </a:r>
            <a:r>
              <a:rPr kumimoji="0" lang="en-US" altLang="en-US" sz="2400" b="0" i="0" u="none" strike="noStrike" cap="none" normalizeH="0" baseline="0" dirty="0" err="1">
                <a:ln>
                  <a:noFill/>
                </a:ln>
                <a:solidFill>
                  <a:schemeClr val="tx1"/>
                </a:solidFill>
                <a:effectLst/>
                <a:ea typeface="Calibri"/>
                <a:cs typeface="Calibri"/>
              </a:rPr>
              <a:t>Babuschkin</a:t>
            </a:r>
            <a:r>
              <a:rPr kumimoji="0" lang="en-US" altLang="en-US" sz="2400" b="0" i="0" u="none" strike="noStrike" cap="none" normalizeH="0" baseline="0" dirty="0">
                <a:ln>
                  <a:noFill/>
                </a:ln>
                <a:solidFill>
                  <a:schemeClr val="tx1"/>
                </a:solidFill>
                <a:effectLst/>
                <a:ea typeface="Calibri"/>
                <a:cs typeface="Calibri"/>
              </a:rPr>
              <a:t>, I., Balaji, S., Balcom, V., </a:t>
            </a:r>
            <a:r>
              <a:rPr kumimoji="0" lang="en-US" altLang="en-US" sz="2400" b="0" i="0" u="none" strike="noStrike" cap="none" normalizeH="0" baseline="0" dirty="0" err="1">
                <a:ln>
                  <a:noFill/>
                </a:ln>
                <a:solidFill>
                  <a:schemeClr val="tx1"/>
                </a:solidFill>
                <a:effectLst/>
                <a:ea typeface="Calibri"/>
                <a:cs typeface="Calibri"/>
              </a:rPr>
              <a:t>Baltescu</a:t>
            </a:r>
            <a:r>
              <a:rPr kumimoji="0" lang="en-US" altLang="en-US" sz="2400" b="0" i="0" u="none" strike="noStrike" cap="none" normalizeH="0" baseline="0" dirty="0">
                <a:ln>
                  <a:noFill/>
                </a:ln>
                <a:solidFill>
                  <a:schemeClr val="tx1"/>
                </a:solidFill>
                <a:effectLst/>
                <a:ea typeface="Calibri"/>
                <a:cs typeface="Calibri"/>
              </a:rPr>
              <a:t>, P., Bao, H., Bavarian, M., Belgum, J., . . . </a:t>
            </a:r>
            <a:r>
              <a:rPr kumimoji="0" lang="en-US" altLang="en-US" sz="2400" b="0" i="0" u="none" strike="noStrike" cap="none" normalizeH="0" baseline="0" dirty="0" err="1">
                <a:ln>
                  <a:noFill/>
                </a:ln>
                <a:solidFill>
                  <a:schemeClr val="tx1"/>
                </a:solidFill>
                <a:effectLst/>
                <a:ea typeface="Calibri"/>
                <a:cs typeface="Calibri"/>
              </a:rPr>
              <a:t>Zoph</a:t>
            </a:r>
            <a:r>
              <a:rPr kumimoji="0" lang="en-US" altLang="en-US" sz="2400" b="0" i="0" u="none" strike="noStrike" cap="none" normalizeH="0" baseline="0" dirty="0">
                <a:ln>
                  <a:noFill/>
                </a:ln>
                <a:solidFill>
                  <a:schemeClr val="tx1"/>
                </a:solidFill>
                <a:effectLst/>
                <a:ea typeface="Calibri"/>
                <a:cs typeface="Calibri"/>
              </a:rPr>
              <a:t>, B. (2023, March 15). </a:t>
            </a:r>
            <a:r>
              <a:rPr kumimoji="0" lang="en-US" altLang="en-US" sz="2400" b="0" i="1" u="none" strike="noStrike" cap="none" normalizeH="0" baseline="0" dirty="0">
                <a:ln>
                  <a:noFill/>
                </a:ln>
                <a:solidFill>
                  <a:schemeClr val="tx1"/>
                </a:solidFill>
                <a:effectLst/>
                <a:ea typeface="Calibri"/>
                <a:cs typeface="Calibri"/>
              </a:rPr>
              <a:t>GPT-4 Technical Report</a:t>
            </a:r>
            <a:r>
              <a:rPr kumimoji="0" lang="en-US" altLang="en-US" sz="2400" b="0" i="0" u="none" strike="noStrike" cap="none" normalizeH="0" baseline="0" dirty="0">
                <a:ln>
                  <a:noFill/>
                </a:ln>
                <a:solidFill>
                  <a:schemeClr val="tx1"/>
                </a:solidFill>
                <a:effectLst/>
                <a:ea typeface="Calibri"/>
                <a:cs typeface="Calibri"/>
              </a:rPr>
              <a:t>. arXiv.org. </a:t>
            </a:r>
            <a:r>
              <a:rPr kumimoji="0" lang="en-US" altLang="en-US" sz="2400" b="0" i="0" u="none" strike="noStrike" cap="none" normalizeH="0" baseline="0" dirty="0">
                <a:ln>
                  <a:noFill/>
                </a:ln>
                <a:solidFill>
                  <a:schemeClr val="tx1"/>
                </a:solidFill>
                <a:effectLst/>
                <a:ea typeface="Calibri"/>
                <a:cs typeface="Calibri"/>
                <a:hlinkClick r:id="rId4">
                  <a:extLst>
                    <a:ext uri="{A12FA001-AC4F-418D-AE19-62706E023703}">
                      <ahyp:hlinkClr xmlns:ahyp="http://schemas.microsoft.com/office/drawing/2018/hyperlinkcolor" val="tx"/>
                    </a:ext>
                  </a:extLst>
                </a:hlinkClick>
              </a:rPr>
              <a:t>https://arxiv.org/abs/2303.08774</a:t>
            </a:r>
            <a:endParaRPr lang="en-US" altLang="en-US" sz="2400" b="0" i="0" u="none" strike="noStrike" cap="none" normalizeH="0" baseline="0" dirty="0">
              <a:ln>
                <a:noFill/>
              </a:ln>
              <a:solidFill>
                <a:schemeClr val="tx1"/>
              </a:solidFill>
              <a:effectLst/>
              <a:ea typeface="Calibri"/>
              <a:cs typeface="Calibri"/>
            </a:endParaRPr>
          </a:p>
        </p:txBody>
      </p:sp>
      <p:sp>
        <p:nvSpPr>
          <p:cNvPr id="49" name="Google Shape;49;p1"/>
          <p:cNvSpPr txBox="1">
            <a:spLocks noGrp="1"/>
          </p:cNvSpPr>
          <p:nvPr>
            <p:ph type="body" idx="16"/>
          </p:nvPr>
        </p:nvSpPr>
        <p:spPr>
          <a:xfrm>
            <a:off x="430263" y="14188142"/>
            <a:ext cx="10056900" cy="9734436"/>
          </a:xfrm>
          <a:prstGeom prst="rect">
            <a:avLst/>
          </a:prstGeom>
          <a:solidFill>
            <a:srgbClr val="EFEFEF"/>
          </a:solidFill>
          <a:ln>
            <a:noFill/>
          </a:ln>
        </p:spPr>
        <p:txBody>
          <a:bodyPr spcFirstLastPara="1" wrap="square" lIns="228575" tIns="228575" rIns="228575" bIns="228575" anchor="t" anchorCtr="0">
            <a:noAutofit/>
          </a:bodyPr>
          <a:lstStyle/>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LLMs are positioned as cognitive navigators that interpret visuals </a:t>
            </a:r>
            <a:r>
              <a:rPr kumimoji="0" lang="en-US" altLang="en-US" sz="3300" b="1" i="0" u="none" strike="noStrike" cap="none" normalizeH="0" baseline="0" dirty="0">
                <a:ln>
                  <a:noFill/>
                </a:ln>
                <a:solidFill>
                  <a:schemeClr val="tx1"/>
                </a:solidFill>
                <a:effectLst/>
                <a:latin typeface="Helvetica Neue" panose="020B0604020202020204" charset="0"/>
              </a:rPr>
              <a:t>without pre-defined instructions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This approach is comparable to a </a:t>
            </a:r>
            <a:r>
              <a:rPr kumimoji="0" lang="en-US" altLang="en-US" sz="3300" b="1" i="0" u="none" strike="noStrike" cap="none" normalizeH="0" baseline="0" dirty="0">
                <a:ln>
                  <a:noFill/>
                </a:ln>
                <a:solidFill>
                  <a:schemeClr val="tx1"/>
                </a:solidFill>
                <a:effectLst/>
                <a:latin typeface="Helvetica Neue" panose="020B0604020202020204" charset="0"/>
              </a:rPr>
              <a:t>human driver </a:t>
            </a:r>
            <a:r>
              <a:rPr kumimoji="0" lang="en-US" altLang="en-US" sz="3300" b="0" i="0" u="none" strike="noStrike" cap="none" normalizeH="0" baseline="0" dirty="0">
                <a:ln>
                  <a:noFill/>
                </a:ln>
                <a:solidFill>
                  <a:schemeClr val="tx1"/>
                </a:solidFill>
                <a:effectLst/>
                <a:latin typeface="Helvetica Neue" panose="020B0604020202020204" charset="0"/>
              </a:rPr>
              <a:t>navigating an unfamiliar road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Images below show the maze and the robot used for LLM evaluation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The LLM receives no prior information about the maze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The goal is to demonstrate </a:t>
            </a:r>
            <a:r>
              <a:rPr kumimoji="0" lang="en-US" altLang="en-US" sz="3300" b="1" i="0" u="none" strike="noStrike" cap="none" normalizeH="0" baseline="0" dirty="0">
                <a:ln>
                  <a:noFill/>
                </a:ln>
                <a:solidFill>
                  <a:schemeClr val="tx1"/>
                </a:solidFill>
                <a:effectLst/>
                <a:latin typeface="Helvetica Neue" panose="020B0604020202020204" charset="0"/>
              </a:rPr>
              <a:t>emergent navigation capabilities </a:t>
            </a:r>
            <a:r>
              <a:rPr kumimoji="0" lang="en-US" altLang="en-US" sz="3300" b="0" i="0" u="none" strike="noStrike" cap="none" normalizeH="0" baseline="0" dirty="0">
                <a:ln>
                  <a:noFill/>
                </a:ln>
                <a:solidFill>
                  <a:schemeClr val="tx1"/>
                </a:solidFill>
                <a:effectLst/>
                <a:latin typeface="Helvetica Neue" panose="020B0604020202020204" charset="0"/>
              </a:rPr>
              <a:t>through: </a:t>
            </a:r>
          </a:p>
          <a:p>
            <a:pPr marL="1028700" lvl="1" indent="-571500" eaLnBrk="0" fontAlgn="base" hangingPunct="0">
              <a:spcBef>
                <a:spcPct val="0"/>
              </a:spcBef>
              <a:spcAft>
                <a:spcPct val="0"/>
              </a:spcAft>
              <a:buClrTx/>
              <a:buSzPct val="100000"/>
              <a:buFont typeface="Wingdings" panose="05000000000000000000" pitchFamily="2" charset="2"/>
              <a:buChar char="§"/>
            </a:pPr>
            <a:r>
              <a:rPr kumimoji="0" lang="en-US" altLang="en-US" sz="3000" b="0" i="0" u="none" strike="noStrike" cap="none" normalizeH="0" baseline="0" dirty="0">
                <a:ln>
                  <a:noFill/>
                </a:ln>
                <a:solidFill>
                  <a:schemeClr val="tx1"/>
                </a:solidFill>
                <a:effectLst/>
                <a:latin typeface="Helvetica Neue" panose="020B0604020202020204" charset="0"/>
              </a:rPr>
              <a:t>Zero-shot visual reasoning </a:t>
            </a:r>
          </a:p>
          <a:p>
            <a:pPr marL="1028700" lvl="1" indent="-571500" eaLnBrk="0" fontAlgn="base" hangingPunct="0">
              <a:spcBef>
                <a:spcPct val="0"/>
              </a:spcBef>
              <a:spcAft>
                <a:spcPct val="0"/>
              </a:spcAft>
              <a:buClrTx/>
              <a:buSzPct val="100000"/>
              <a:buFont typeface="Wingdings" panose="05000000000000000000" pitchFamily="2" charset="2"/>
              <a:buChar char="§"/>
            </a:pPr>
            <a:r>
              <a:rPr kumimoji="0" lang="en-US" altLang="en-US" sz="3000" b="0" i="0" u="none" strike="noStrike" cap="none" normalizeH="0" baseline="0" dirty="0">
                <a:ln>
                  <a:noFill/>
                </a:ln>
                <a:solidFill>
                  <a:schemeClr val="tx1"/>
                </a:solidFill>
                <a:effectLst/>
                <a:latin typeface="Helvetica Neue" panose="020B0604020202020204" charset="0"/>
              </a:rPr>
              <a:t>Adaptive decision-making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This represents a shift from pattern-matching to cognition-based navigation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The approach could enable more flexible robotic systems </a:t>
            </a:r>
          </a:p>
          <a:p>
            <a:pPr marL="571500" marR="0" lvl="0" indent="-57150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300" b="0" i="0" u="none" strike="noStrike" cap="none" normalizeH="0" baseline="0" dirty="0">
                <a:ln>
                  <a:noFill/>
                </a:ln>
                <a:solidFill>
                  <a:schemeClr val="tx1"/>
                </a:solidFill>
                <a:effectLst/>
                <a:latin typeface="Helvetica Neue" panose="020B0604020202020204" charset="0"/>
              </a:rPr>
              <a:t>These systems would be generalizable across diverse, unfamiliar environments </a:t>
            </a:r>
          </a:p>
        </p:txBody>
      </p:sp>
      <p:sp>
        <p:nvSpPr>
          <p:cNvPr id="50" name="Google Shape;50;p1"/>
          <p:cNvSpPr txBox="1">
            <a:spLocks noGrp="1"/>
          </p:cNvSpPr>
          <p:nvPr>
            <p:ph type="body" idx="18"/>
          </p:nvPr>
        </p:nvSpPr>
        <p:spPr>
          <a:xfrm>
            <a:off x="13745400" y="3448125"/>
            <a:ext cx="16400400" cy="6465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7B7B7B"/>
              </a:buClr>
              <a:buSzPts val="3600"/>
              <a:buFont typeface="Helvetica Neue Light"/>
              <a:buNone/>
            </a:pPr>
            <a:r>
              <a:rPr lang="en-US" sz="4000" dirty="0">
                <a:solidFill>
                  <a:srgbClr val="0B5394"/>
                </a:solidFill>
              </a:rPr>
              <a:t>Chinmay Chandra &amp; Jonathan Lee</a:t>
            </a:r>
            <a:endParaRPr sz="4000" dirty="0">
              <a:solidFill>
                <a:srgbClr val="0B5394"/>
              </a:solidFill>
            </a:endParaRPr>
          </a:p>
        </p:txBody>
      </p:sp>
      <p:sp>
        <p:nvSpPr>
          <p:cNvPr id="51" name="Google Shape;51;p1"/>
          <p:cNvSpPr txBox="1">
            <a:spLocks noGrp="1"/>
          </p:cNvSpPr>
          <p:nvPr>
            <p:ph type="body" idx="19"/>
          </p:nvPr>
        </p:nvSpPr>
        <p:spPr>
          <a:xfrm>
            <a:off x="8666700" y="642149"/>
            <a:ext cx="26557800" cy="19338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7B7B7B"/>
              </a:buClr>
              <a:buSzPts val="8800"/>
              <a:buFont typeface="Helvetica Neue Light"/>
              <a:buNone/>
            </a:pPr>
            <a:r>
              <a:rPr lang="en-US" sz="10000" dirty="0">
                <a:solidFill>
                  <a:srgbClr val="0B5394"/>
                </a:solidFill>
                <a:latin typeface="Helvetica Neue"/>
                <a:ea typeface="Helvetica Neue"/>
                <a:cs typeface="Helvetica Neue"/>
                <a:sym typeface="Helvetica Neue"/>
              </a:rPr>
              <a:t>Robotic Navigation Using Large Language Models</a:t>
            </a:r>
            <a:endParaRPr sz="10000" dirty="0">
              <a:solidFill>
                <a:srgbClr val="0B5394"/>
              </a:solidFill>
              <a:latin typeface="Helvetica Neue"/>
              <a:ea typeface="Helvetica Neue"/>
              <a:cs typeface="Helvetica Neue"/>
              <a:sym typeface="Helvetica Neue"/>
            </a:endParaRPr>
          </a:p>
        </p:txBody>
      </p:sp>
      <p:sp>
        <p:nvSpPr>
          <p:cNvPr id="52" name="Google Shape;52;p1"/>
          <p:cNvSpPr txBox="1"/>
          <p:nvPr/>
        </p:nvSpPr>
        <p:spPr>
          <a:xfrm>
            <a:off x="22488375" y="25409923"/>
            <a:ext cx="10047000" cy="830966"/>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endParaRPr sz="4200" b="1" i="0" u="none" strike="noStrike" cap="none" dirty="0">
              <a:solidFill>
                <a:schemeClr val="dk1"/>
              </a:solidFill>
              <a:latin typeface="Arial"/>
              <a:ea typeface="Arial"/>
              <a:cs typeface="Arial"/>
              <a:sym typeface="Arial"/>
            </a:endParaRPr>
          </a:p>
        </p:txBody>
      </p:sp>
      <p:sp>
        <p:nvSpPr>
          <p:cNvPr id="53" name="Google Shape;53;p1"/>
          <p:cNvSpPr txBox="1"/>
          <p:nvPr/>
        </p:nvSpPr>
        <p:spPr>
          <a:xfrm>
            <a:off x="22554459" y="13802934"/>
            <a:ext cx="10437600" cy="677078"/>
          </a:xfrm>
          <a:prstGeom prst="rect">
            <a:avLst/>
          </a:prstGeom>
          <a:solidFill>
            <a:srgbClr val="FFFFFF"/>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500"/>
              <a:buFont typeface="Arial"/>
              <a:buNone/>
            </a:pPr>
            <a:r>
              <a:rPr lang="en-US" sz="3200" b="1" i="0" u="none" strike="noStrike" cap="none" dirty="0">
                <a:solidFill>
                  <a:schemeClr val="dk1"/>
                </a:solidFill>
                <a:latin typeface="Helvetica Neue" panose="020B0604020202020204" charset="0"/>
                <a:sym typeface="Arial"/>
              </a:rPr>
              <a:t>2x2 Grid – Navigation Success </a:t>
            </a:r>
            <a:endParaRPr sz="3200" b="1" i="0" u="none" strike="noStrike" cap="none" dirty="0">
              <a:solidFill>
                <a:schemeClr val="dk1"/>
              </a:solidFill>
              <a:latin typeface="Helvetica Neue" panose="020B0604020202020204" charset="0"/>
              <a:sym typeface="Arial"/>
            </a:endParaRPr>
          </a:p>
        </p:txBody>
      </p:sp>
      <p:graphicFrame>
        <p:nvGraphicFramePr>
          <p:cNvPr id="54" name="Google Shape;54;p1"/>
          <p:cNvGraphicFramePr/>
          <p:nvPr>
            <p:extLst>
              <p:ext uri="{D42A27DB-BD31-4B8C-83A1-F6EECF244321}">
                <p14:modId xmlns:p14="http://schemas.microsoft.com/office/powerpoint/2010/main" val="4256809483"/>
              </p:ext>
            </p:extLst>
          </p:nvPr>
        </p:nvGraphicFramePr>
        <p:xfrm>
          <a:off x="22516998" y="6347250"/>
          <a:ext cx="9832766" cy="6240536"/>
        </p:xfrm>
        <a:graphic>
          <a:graphicData uri="http://schemas.openxmlformats.org/drawingml/2006/table">
            <a:tbl>
              <a:tblPr>
                <a:noFill/>
                <a:tableStyleId>{C825FD7E-C3C1-424B-9BB4-24FADF3CDCE8}</a:tableStyleId>
              </a:tblPr>
              <a:tblGrid>
                <a:gridCol w="2039815">
                  <a:extLst>
                    <a:ext uri="{9D8B030D-6E8A-4147-A177-3AD203B41FA5}">
                      <a16:colId xmlns:a16="http://schemas.microsoft.com/office/drawing/2014/main" val="20000"/>
                    </a:ext>
                  </a:extLst>
                </a:gridCol>
                <a:gridCol w="7792951">
                  <a:extLst>
                    <a:ext uri="{9D8B030D-6E8A-4147-A177-3AD203B41FA5}">
                      <a16:colId xmlns:a16="http://schemas.microsoft.com/office/drawing/2014/main" val="20001"/>
                    </a:ext>
                  </a:extLst>
                </a:gridCol>
              </a:tblGrid>
              <a:tr h="468381">
                <a:tc>
                  <a:txBody>
                    <a:bodyPr/>
                    <a:lstStyle/>
                    <a:p>
                      <a:pPr marL="0" marR="0" lvl="0" indent="0" algn="ctr" rtl="0">
                        <a:lnSpc>
                          <a:spcPct val="100000"/>
                        </a:lnSpc>
                        <a:spcBef>
                          <a:spcPts val="0"/>
                        </a:spcBef>
                        <a:spcAft>
                          <a:spcPts val="0"/>
                        </a:spcAft>
                        <a:buClr>
                          <a:srgbClr val="000000"/>
                        </a:buClr>
                        <a:buSzPts val="1500"/>
                        <a:buFont typeface="Arial"/>
                        <a:buNone/>
                      </a:pPr>
                      <a:r>
                        <a:rPr lang="en-US" sz="3200" b="1" u="none" strike="noStrike" cap="none" dirty="0">
                          <a:solidFill>
                            <a:srgbClr val="1F3A4E"/>
                          </a:solidFill>
                          <a:latin typeface="Helvetica Neue" panose="020B0604020202020204" charset="0"/>
                          <a:ea typeface="Helvetica Neue"/>
                          <a:cs typeface="Helvetica Neue"/>
                          <a:sym typeface="Helvetica Neue"/>
                        </a:rPr>
                        <a:t>Role</a:t>
                      </a:r>
                      <a:endParaRPr sz="3200" b="1" u="none" strike="noStrike" cap="none" dirty="0">
                        <a:solidFill>
                          <a:srgbClr val="1F3A4E"/>
                        </a:solidFill>
                        <a:latin typeface="Helvetica Neue" panose="020B0604020202020204" charset="0"/>
                        <a:ea typeface="Helvetica Neue"/>
                        <a:cs typeface="Helvetica Neue"/>
                        <a:sym typeface="Helvetica Neue"/>
                      </a:endParaRPr>
                    </a:p>
                  </a:txBody>
                  <a:tcPr marL="91425" marR="91425" marT="91425" marB="91425">
                    <a:solidFill>
                      <a:srgbClr val="C9DAF8"/>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3200" b="1" u="none" strike="noStrike" cap="none" dirty="0">
                          <a:solidFill>
                            <a:srgbClr val="1F3A4E"/>
                          </a:solidFill>
                          <a:latin typeface="Helvetica Neue" panose="020B0604020202020204" charset="0"/>
                          <a:ea typeface="Helvetica Neue"/>
                          <a:cs typeface="Helvetica Neue"/>
                          <a:sym typeface="Helvetica Neue"/>
                        </a:rPr>
                        <a:t>Content</a:t>
                      </a:r>
                      <a:endParaRPr sz="3200" b="1" u="none" strike="noStrike" cap="none" dirty="0">
                        <a:solidFill>
                          <a:srgbClr val="1F3A4E"/>
                        </a:solidFill>
                        <a:latin typeface="Helvetica Neue" panose="020B0604020202020204" charset="0"/>
                        <a:ea typeface="Helvetica Neue"/>
                        <a:cs typeface="Helvetica Neue"/>
                        <a:sym typeface="Helvetica Neue"/>
                      </a:endParaRPr>
                    </a:p>
                  </a:txBody>
                  <a:tcPr marL="91425" marR="91425" marT="91425" marB="91425">
                    <a:solidFill>
                      <a:srgbClr val="C9DAF8"/>
                    </a:solidFill>
                  </a:tcPr>
                </a:tc>
                <a:extLst>
                  <a:ext uri="{0D108BD9-81ED-4DB2-BD59-A6C34878D82A}">
                    <a16:rowId xmlns:a16="http://schemas.microsoft.com/office/drawing/2014/main" val="10000"/>
                  </a:ext>
                </a:extLst>
              </a:tr>
              <a:tr h="3934599">
                <a:tc>
                  <a:txBody>
                    <a:bodyPr/>
                    <a:lstStyle/>
                    <a:p>
                      <a:pPr marL="0" marR="0" lvl="0" indent="0" algn="ctr" rtl="0">
                        <a:lnSpc>
                          <a:spcPct val="100000"/>
                        </a:lnSpc>
                        <a:spcBef>
                          <a:spcPts val="0"/>
                        </a:spcBef>
                        <a:spcAft>
                          <a:spcPts val="0"/>
                        </a:spcAft>
                        <a:buClr>
                          <a:srgbClr val="000000"/>
                        </a:buClr>
                        <a:buSzPts val="1500"/>
                        <a:buFont typeface="Arial"/>
                        <a:buNone/>
                      </a:pPr>
                      <a:r>
                        <a:rPr lang="en-US" sz="3200" b="1" u="none" strike="noStrike" cap="none" dirty="0">
                          <a:solidFill>
                            <a:schemeClr val="dk1"/>
                          </a:solidFill>
                          <a:latin typeface="Helvetica Neue" panose="020B0604020202020204" charset="0"/>
                          <a:ea typeface="Helvetica Neue"/>
                          <a:cs typeface="Helvetica Neue"/>
                          <a:sym typeface="Helvetica Neue"/>
                        </a:rPr>
                        <a:t>System</a:t>
                      </a:r>
                      <a:endParaRPr sz="3200" b="1" u="none" strike="noStrike" cap="none" dirty="0">
                        <a:solidFill>
                          <a:schemeClr val="dk1"/>
                        </a:solidFill>
                        <a:latin typeface="Helvetica Neue" panose="020B0604020202020204" charset="0"/>
                        <a:ea typeface="Helvetica Neue"/>
                        <a:cs typeface="Helvetica Neue"/>
                        <a:sym typeface="Helvetica Neue"/>
                      </a:endParaRPr>
                    </a:p>
                  </a:txBody>
                  <a:tcPr marL="91425" marR="91425" marT="91425" marB="91425">
                    <a:solidFill>
                      <a:srgbClr val="CFE2F3"/>
                    </a:solidFill>
                  </a:tcPr>
                </a:tc>
                <a:tc>
                  <a:txBody>
                    <a:bodyPr/>
                    <a:lstStyle/>
                    <a:p>
                      <a:pPr marL="171450" marR="0" indent="-171450" algn="l">
                        <a:spcAft>
                          <a:spcPts val="600"/>
                        </a:spcAft>
                        <a:buFontTx/>
                        <a:buChar char="-"/>
                      </a:pPr>
                      <a:r>
                        <a:rPr lang="en-US" sz="3200" dirty="0">
                          <a:effectLst/>
                          <a:latin typeface="Helvetica Neue" panose="020B0604020202020204" charset="0"/>
                          <a:ea typeface="Calibri" panose="020F0502020204030204" pitchFamily="34" charset="0"/>
                          <a:cs typeface="Calibri" panose="020F0502020204030204" pitchFamily="34" charset="0"/>
                        </a:rPr>
                        <a:t> Goal/Target</a:t>
                      </a:r>
                    </a:p>
                    <a:p>
                      <a:pPr marL="171450" marR="0" indent="-171450" algn="l">
                        <a:spcAft>
                          <a:spcPts val="600"/>
                        </a:spcAft>
                        <a:buFontTx/>
                        <a:buChar char="-"/>
                      </a:pPr>
                      <a:r>
                        <a:rPr lang="en-US" sz="3200" dirty="0">
                          <a:effectLst/>
                          <a:latin typeface="Helvetica Neue" panose="020B0604020202020204" charset="0"/>
                          <a:ea typeface="Calibri" panose="020F0502020204030204" pitchFamily="34" charset="0"/>
                          <a:cs typeface="Calibri" panose="020F0502020204030204" pitchFamily="34" charset="0"/>
                        </a:rPr>
                        <a:t> Movements Allowed</a:t>
                      </a:r>
                    </a:p>
                    <a:p>
                      <a:pPr marL="171450" marR="0" indent="-171450" algn="l">
                        <a:spcAft>
                          <a:spcPts val="600"/>
                        </a:spcAft>
                        <a:buFontTx/>
                        <a:buChar char="-"/>
                      </a:pPr>
                      <a:r>
                        <a:rPr lang="en-US" sz="3200" dirty="0">
                          <a:latin typeface="Helvetica Neue" panose="020B0604020202020204" charset="0"/>
                          <a:ea typeface="Calibri" panose="020F0502020204030204" pitchFamily="34" charset="0"/>
                          <a:cs typeface="Calibri" panose="020F0502020204030204" pitchFamily="34" charset="0"/>
                        </a:rPr>
                        <a:t> Available Data</a:t>
                      </a:r>
                    </a:p>
                    <a:p>
                      <a:pPr marL="171450" marR="0" indent="-171450" algn="l">
                        <a:spcAft>
                          <a:spcPts val="600"/>
                        </a:spcAft>
                        <a:buFontTx/>
                        <a:buChar char="-"/>
                      </a:pPr>
                      <a:r>
                        <a:rPr lang="en-US" sz="3200" dirty="0">
                          <a:effectLst/>
                          <a:latin typeface="Helvetica Neue" panose="020B0604020202020204" charset="0"/>
                          <a:ea typeface="Calibri" panose="020F0502020204030204" pitchFamily="34" charset="0"/>
                          <a:cs typeface="Calibri" panose="020F0502020204030204" pitchFamily="34" charset="0"/>
                        </a:rPr>
                        <a:t> Navigation Strategy</a:t>
                      </a:r>
                    </a:p>
                    <a:p>
                      <a:pPr marL="171450" marR="0" indent="-171450" algn="l">
                        <a:spcAft>
                          <a:spcPts val="600"/>
                        </a:spcAft>
                        <a:buFontTx/>
                        <a:buChar char="-"/>
                      </a:pPr>
                      <a:r>
                        <a:rPr lang="en-US" sz="3200" dirty="0">
                          <a:latin typeface="Helvetica Neue" panose="020B0604020202020204" charset="0"/>
                          <a:ea typeface="Calibri" panose="020F0502020204030204" pitchFamily="34" charset="0"/>
                          <a:cs typeface="Calibri" panose="020F0502020204030204" pitchFamily="34" charset="0"/>
                        </a:rPr>
                        <a:t> Additional Notes</a:t>
                      </a:r>
                    </a:p>
                    <a:p>
                      <a:pPr marL="171450" marR="0" lvl="0" indent="-171450" algn="l" defTabSz="914400" rtl="0" eaLnBrk="1" fontAlgn="auto" latinLnBrk="0" hangingPunct="1">
                        <a:lnSpc>
                          <a:spcPct val="100000"/>
                        </a:lnSpc>
                        <a:spcBef>
                          <a:spcPts val="0"/>
                        </a:spcBef>
                        <a:spcAft>
                          <a:spcPts val="600"/>
                        </a:spcAft>
                        <a:buClrTx/>
                        <a:buSzTx/>
                        <a:buFontTx/>
                        <a:buChar char="-"/>
                        <a:tabLst/>
                        <a:defRPr/>
                      </a:pPr>
                      <a:r>
                        <a:rPr lang="en-US" sz="3200" dirty="0">
                          <a:latin typeface="Helvetica Neue" panose="020B0604020202020204" charset="0"/>
                          <a:ea typeface="Calibri" panose="020F0502020204030204" pitchFamily="34" charset="0"/>
                          <a:cs typeface="Calibri" panose="020F0502020204030204" pitchFamily="34" charset="0"/>
                        </a:rPr>
                        <a:t> Expected Response Format</a:t>
                      </a:r>
                    </a:p>
                    <a:p>
                      <a:pPr marL="171450" marR="0" indent="-171450" algn="l">
                        <a:spcAft>
                          <a:spcPts val="600"/>
                        </a:spcAft>
                        <a:buFontTx/>
                        <a:buChar char="-"/>
                      </a:pPr>
                      <a:r>
                        <a:rPr lang="en-US" sz="3200" dirty="0">
                          <a:effectLst/>
                          <a:latin typeface="Helvetica Neue" panose="020B0604020202020204" charset="0"/>
                          <a:ea typeface="Calibri" panose="020F0502020204030204" pitchFamily="34" charset="0"/>
                          <a:cs typeface="Calibri" panose="020F0502020204030204" pitchFamily="34" charset="0"/>
                        </a:rPr>
                        <a:t> Instructions for Response</a:t>
                      </a:r>
                    </a:p>
                  </a:txBody>
                  <a:tcPr marL="91425" marR="91425" marT="91425" marB="91425">
                    <a:solidFill>
                      <a:srgbClr val="CFE2F3"/>
                    </a:solidFill>
                  </a:tcPr>
                </a:tc>
                <a:extLst>
                  <a:ext uri="{0D108BD9-81ED-4DB2-BD59-A6C34878D82A}">
                    <a16:rowId xmlns:a16="http://schemas.microsoft.com/office/drawing/2014/main" val="10001"/>
                  </a:ext>
                </a:extLst>
              </a:tr>
              <a:tr h="765920">
                <a:tc>
                  <a:txBody>
                    <a:bodyPr/>
                    <a:lstStyle/>
                    <a:p>
                      <a:pPr marL="0" marR="0" algn="ctr">
                        <a:spcAft>
                          <a:spcPts val="0"/>
                        </a:spcAft>
                        <a:buNone/>
                      </a:pPr>
                      <a:r>
                        <a:rPr lang="en-US" sz="3200" b="1" dirty="0">
                          <a:effectLst/>
                          <a:latin typeface="Helvetica Neue" panose="020B0604020202020204" charset="0"/>
                          <a:ea typeface="Calibri" panose="020F0502020204030204" pitchFamily="34" charset="0"/>
                          <a:cs typeface="Calibri" panose="020F0502020204030204" pitchFamily="34" charset="0"/>
                        </a:rPr>
                        <a:t>User</a:t>
                      </a:r>
                    </a:p>
                  </a:txBody>
                  <a:tcPr marL="91425" marR="91425" marT="91425" marB="91425">
                    <a:solidFill>
                      <a:srgbClr val="CFE2F3"/>
                    </a:solidFill>
                  </a:tcPr>
                </a:tc>
                <a:tc>
                  <a:txBody>
                    <a:bodyPr/>
                    <a:lstStyle/>
                    <a:p>
                      <a:pPr marL="0" marR="0" algn="l">
                        <a:spcAft>
                          <a:spcPts val="600"/>
                        </a:spcAft>
                        <a:buNone/>
                      </a:pPr>
                      <a:r>
                        <a:rPr lang="en-US" sz="3200" dirty="0">
                          <a:effectLst/>
                          <a:latin typeface="Helvetica Neue" panose="020B0604020202020204" charset="0"/>
                          <a:ea typeface="Calibri" panose="020F0502020204030204" pitchFamily="34" charset="0"/>
                          <a:cs typeface="Calibri" panose="020F0502020204030204" pitchFamily="34" charset="0"/>
                        </a:rPr>
                        <a:t>Lidar and Front camera images</a:t>
                      </a:r>
                    </a:p>
                  </a:txBody>
                  <a:tcPr marL="91425" marR="91425" marT="91425" marB="91425">
                    <a:solidFill>
                      <a:srgbClr val="CFE2F3"/>
                    </a:solidFill>
                  </a:tcPr>
                </a:tc>
                <a:extLst>
                  <a:ext uri="{0D108BD9-81ED-4DB2-BD59-A6C34878D82A}">
                    <a16:rowId xmlns:a16="http://schemas.microsoft.com/office/drawing/2014/main" val="10002"/>
                  </a:ext>
                </a:extLst>
              </a:tr>
              <a:tr h="750276">
                <a:tc>
                  <a:txBody>
                    <a:bodyPr/>
                    <a:lstStyle/>
                    <a:p>
                      <a:pPr marL="0" marR="0" lvl="0" indent="0" algn="ctr" rtl="0">
                        <a:lnSpc>
                          <a:spcPct val="100000"/>
                        </a:lnSpc>
                        <a:spcBef>
                          <a:spcPts val="0"/>
                        </a:spcBef>
                        <a:spcAft>
                          <a:spcPts val="0"/>
                        </a:spcAft>
                        <a:buClr>
                          <a:srgbClr val="000000"/>
                        </a:buClr>
                        <a:buSzPts val="1500"/>
                        <a:buFont typeface="Arial"/>
                        <a:buNone/>
                      </a:pPr>
                      <a:r>
                        <a:rPr lang="en-IN" sz="3200" b="1" u="none" strike="noStrike" cap="none" dirty="0">
                          <a:solidFill>
                            <a:schemeClr val="dk1"/>
                          </a:solidFill>
                          <a:latin typeface="Helvetica Neue" panose="020B0604020202020204" charset="0"/>
                          <a:ea typeface="Helvetica Neue"/>
                          <a:cs typeface="Helvetica Neue"/>
                          <a:sym typeface="Helvetica Neue"/>
                        </a:rPr>
                        <a:t>AI</a:t>
                      </a:r>
                      <a:endParaRPr sz="3200" b="1" u="none" strike="noStrike" cap="none" dirty="0">
                        <a:solidFill>
                          <a:schemeClr val="dk1"/>
                        </a:solidFill>
                        <a:latin typeface="Helvetica Neue" panose="020B0604020202020204" charset="0"/>
                        <a:ea typeface="Helvetica Neue"/>
                        <a:cs typeface="Helvetica Neue"/>
                        <a:sym typeface="Helvetica Neue"/>
                      </a:endParaRPr>
                    </a:p>
                  </a:txBody>
                  <a:tcPr marL="91425" marR="91425" marT="91425" marB="91425">
                    <a:solidFill>
                      <a:srgbClr val="CFE2F3"/>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IN" sz="3200" b="0" u="none" strike="noStrike" cap="none" dirty="0">
                          <a:solidFill>
                            <a:schemeClr val="dk1"/>
                          </a:solidFill>
                          <a:latin typeface="Helvetica Neue" panose="020B0604020202020204" charset="0"/>
                          <a:ea typeface="Helvetica Neue"/>
                          <a:cs typeface="Helvetica Neue"/>
                          <a:sym typeface="Helvetica Neue"/>
                        </a:rPr>
                        <a:t>Summary</a:t>
                      </a:r>
                      <a:endParaRPr sz="3200" b="0" u="none" strike="noStrike" cap="none" dirty="0">
                        <a:solidFill>
                          <a:schemeClr val="dk1"/>
                        </a:solidFill>
                        <a:latin typeface="Helvetica Neue" panose="020B0604020202020204" charset="0"/>
                        <a:ea typeface="Helvetica Neue"/>
                        <a:cs typeface="Helvetica Neue"/>
                        <a:sym typeface="Helvetica Neue"/>
                      </a:endParaRPr>
                    </a:p>
                  </a:txBody>
                  <a:tcPr marL="91425" marR="91425" marT="91425" marB="91425">
                    <a:solidFill>
                      <a:srgbClr val="CFE2F3"/>
                    </a:solidFill>
                  </a:tcPr>
                </a:tc>
                <a:extLst>
                  <a:ext uri="{0D108BD9-81ED-4DB2-BD59-A6C34878D82A}">
                    <a16:rowId xmlns:a16="http://schemas.microsoft.com/office/drawing/2014/main" val="10003"/>
                  </a:ext>
                </a:extLst>
              </a:tr>
            </a:tbl>
          </a:graphicData>
        </a:graphic>
      </p:graphicFrame>
      <p:sp>
        <p:nvSpPr>
          <p:cNvPr id="56" name="Google Shape;56;p1"/>
          <p:cNvSpPr txBox="1"/>
          <p:nvPr/>
        </p:nvSpPr>
        <p:spPr>
          <a:xfrm>
            <a:off x="22736779" y="22896468"/>
            <a:ext cx="9906900" cy="4403934"/>
          </a:xfrm>
          <a:prstGeom prst="rect">
            <a:avLst/>
          </a:prstGeom>
          <a:solidFill>
            <a:srgbClr val="EFEFEF"/>
          </a:solidFill>
          <a:ln>
            <a:noFill/>
          </a:ln>
        </p:spPr>
        <p:txBody>
          <a:bodyPr spcFirstLastPara="1" wrap="square" lIns="91425" tIns="91425" rIns="91425" bIns="91425" anchor="t" anchorCtr="0">
            <a:noAutofit/>
          </a:bodyPr>
          <a:lstStyle/>
          <a:p>
            <a:pPr marL="285750" indent="-285750" defTabSz="914400">
              <a:lnSpc>
                <a:spcPct val="90000"/>
              </a:lnSpc>
              <a:spcBef>
                <a:spcPts val="0"/>
              </a:spcBef>
              <a:spcAft>
                <a:spcPts val="600"/>
              </a:spcAft>
              <a:buSzPct val="150000"/>
              <a:buFont typeface="Arial" panose="020B0604020202020204" pitchFamily="34" charset="0"/>
              <a:buChar char="•"/>
            </a:pPr>
            <a:r>
              <a:rPr lang="en-US" sz="3000" dirty="0">
                <a:solidFill>
                  <a:schemeClr val="tx1"/>
                </a:solidFill>
                <a:latin typeface="Helvetica Neue"/>
                <a:ea typeface="Calibri"/>
                <a:cs typeface="Calibri"/>
              </a:rPr>
              <a:t>2×2 design: 2 goals × 2 LLMs</a:t>
            </a:r>
            <a:endParaRPr kumimoji="0" lang="en-US" sz="3000" b="0" i="0" u="none" strike="noStrike" cap="none" spc="0" normalizeH="0" baseline="0" dirty="0">
              <a:ln>
                <a:noFill/>
              </a:ln>
              <a:solidFill>
                <a:schemeClr val="tx1"/>
              </a:solidFill>
              <a:effectLst/>
              <a:uFillTx/>
              <a:latin typeface="Helvetica Neue"/>
              <a:ea typeface="Calibri"/>
              <a:cs typeface="Calibri"/>
            </a:endParaRPr>
          </a:p>
          <a:p>
            <a:pPr marL="285750" indent="-285750" defTabSz="914400">
              <a:lnSpc>
                <a:spcPct val="90000"/>
              </a:lnSpc>
              <a:spcBef>
                <a:spcPts val="0"/>
              </a:spcBef>
              <a:spcAft>
                <a:spcPts val="600"/>
              </a:spcAft>
              <a:buSzPct val="150000"/>
              <a:buFont typeface="Arial" panose="020B0604020202020204" pitchFamily="34" charset="0"/>
              <a:buChar char="•"/>
            </a:pPr>
            <a:r>
              <a:rPr lang="en-US" sz="3000" dirty="0">
                <a:solidFill>
                  <a:schemeClr val="tx1"/>
                </a:solidFill>
                <a:latin typeface="Helvetica Neue" panose="020B0604020202020204" charset="0"/>
                <a:ea typeface="Calibri" panose="020F0502020204030204" pitchFamily="34" charset="0"/>
                <a:cs typeface="Calibri" panose="020F0502020204030204" pitchFamily="34" charset="0"/>
              </a:rPr>
              <a:t>10 trials per condition with fixed starting positions</a:t>
            </a:r>
          </a:p>
          <a:p>
            <a:pPr marL="285750" indent="-285750" defTabSz="914400">
              <a:lnSpc>
                <a:spcPct val="90000"/>
              </a:lnSpc>
              <a:spcBef>
                <a:spcPts val="0"/>
              </a:spcBef>
              <a:spcAft>
                <a:spcPts val="600"/>
              </a:spcAft>
              <a:buSzPct val="150000"/>
              <a:buFont typeface="Arial" panose="020B0604020202020204" pitchFamily="34" charset="0"/>
              <a:buChar char="•"/>
            </a:pPr>
            <a:r>
              <a:rPr lang="en-US" sz="3000" dirty="0">
                <a:solidFill>
                  <a:schemeClr val="tx1"/>
                </a:solidFill>
                <a:latin typeface="Helvetica Neue" panose="020B0604020202020204" charset="0"/>
                <a:ea typeface="Calibri" panose="020F0502020204030204" pitchFamily="34" charset="0"/>
                <a:cs typeface="Calibri" panose="020F0502020204030204" pitchFamily="34" charset="0"/>
              </a:rPr>
              <a:t>Performance metric: navigation rounds to reach goal, Failure/Success</a:t>
            </a:r>
            <a:endParaRPr kumimoji="0" lang="en-US" altLang="en-US" sz="3000"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000"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Unsuccessful attempts classified as </a:t>
            </a:r>
            <a:r>
              <a:rPr kumimoji="0" lang="en-US" altLang="en-US" sz="3000" b="1"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DNF </a:t>
            </a:r>
          </a:p>
          <a:p>
            <a:pPr marL="285750" marR="0" lvl="0" indent="-28575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000"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Malformed outputs marked as </a:t>
            </a:r>
            <a:r>
              <a:rPr kumimoji="0" lang="en-US" altLang="en-US" sz="3000" b="1"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Discards </a:t>
            </a:r>
            <a:r>
              <a:rPr kumimoji="0" lang="en-US" altLang="en-US" sz="3000"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(Percentage displayed within &lt;&gt;) </a:t>
            </a:r>
          </a:p>
          <a:p>
            <a:pPr marL="285750" marR="0" lvl="0" indent="-28575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sz="3000"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Design enables analysis of LLM performance across goal conditions </a:t>
            </a:r>
          </a:p>
        </p:txBody>
      </p:sp>
      <p:pic>
        <p:nvPicPr>
          <p:cNvPr id="66" name="Google Shape;66;p1"/>
          <p:cNvPicPr preferRelativeResize="0"/>
          <p:nvPr/>
        </p:nvPicPr>
        <p:blipFill>
          <a:blip r:embed="rId5">
            <a:alphaModFix/>
          </a:blip>
          <a:stretch>
            <a:fillRect/>
          </a:stretch>
        </p:blipFill>
        <p:spPr>
          <a:xfrm>
            <a:off x="38207862" y="355438"/>
            <a:ext cx="5683338" cy="2686275"/>
          </a:xfrm>
          <a:prstGeom prst="rect">
            <a:avLst/>
          </a:prstGeom>
          <a:noFill/>
          <a:ln>
            <a:noFill/>
          </a:ln>
        </p:spPr>
      </p:pic>
      <p:sp>
        <p:nvSpPr>
          <p:cNvPr id="69" name="Google Shape;69;p1"/>
          <p:cNvSpPr/>
          <p:nvPr/>
        </p:nvSpPr>
        <p:spPr>
          <a:xfrm>
            <a:off x="459600" y="32310300"/>
            <a:ext cx="2139900" cy="466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
          <p:cNvSpPr txBox="1">
            <a:spLocks noGrp="1"/>
          </p:cNvSpPr>
          <p:nvPr>
            <p:ph type="body" idx="18"/>
          </p:nvPr>
        </p:nvSpPr>
        <p:spPr>
          <a:xfrm>
            <a:off x="13897800" y="4253174"/>
            <a:ext cx="16400400" cy="110820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0"/>
              </a:spcBef>
              <a:spcAft>
                <a:spcPts val="0"/>
              </a:spcAft>
              <a:buClr>
                <a:schemeClr val="dk1"/>
              </a:buClr>
              <a:buSzPct val="30555"/>
              <a:buFont typeface="Arial"/>
              <a:buNone/>
            </a:pPr>
            <a:r>
              <a:rPr lang="en-US" dirty="0">
                <a:solidFill>
                  <a:srgbClr val="0B5394"/>
                </a:solidFill>
              </a:rPr>
              <a:t>This work is supported </a:t>
            </a:r>
            <a:r>
              <a:rPr lang="en-US">
                <a:solidFill>
                  <a:srgbClr val="0B5394"/>
                </a:solidFill>
              </a:rPr>
              <a:t>by The </a:t>
            </a:r>
            <a:r>
              <a:rPr lang="en-US" dirty="0">
                <a:solidFill>
                  <a:srgbClr val="0B5394"/>
                </a:solidFill>
              </a:rPr>
              <a:t>Center for Undergraduate Research Experiences and the Pace University Robotics Lab, with thanks to Professor David Benjamin .</a:t>
            </a:r>
            <a:endParaRPr dirty="0">
              <a:solidFill>
                <a:srgbClr val="0B5394"/>
              </a:solidFill>
            </a:endParaRPr>
          </a:p>
          <a:p>
            <a:pPr marL="0" lvl="0" indent="0" algn="ctr" rtl="0">
              <a:lnSpc>
                <a:spcPct val="100000"/>
              </a:lnSpc>
              <a:spcBef>
                <a:spcPts val="0"/>
              </a:spcBef>
              <a:spcAft>
                <a:spcPts val="0"/>
              </a:spcAft>
              <a:buClr>
                <a:srgbClr val="7B7B7B"/>
              </a:buClr>
              <a:buSzPct val="100000"/>
              <a:buFont typeface="Helvetica Neue Light"/>
              <a:buNone/>
            </a:pPr>
            <a:endParaRPr dirty="0">
              <a:solidFill>
                <a:srgbClr val="0B5394"/>
              </a:solidFill>
            </a:endParaRPr>
          </a:p>
        </p:txBody>
      </p:sp>
      <p:pic>
        <p:nvPicPr>
          <p:cNvPr id="5" name="Picture 4" descr="Jackal UGV - Small Weatherproof Robot - Clearpath">
            <a:extLst>
              <a:ext uri="{FF2B5EF4-FFF2-40B4-BE49-F238E27FC236}">
                <a16:creationId xmlns:a16="http://schemas.microsoft.com/office/drawing/2014/main" id="{F355C440-5949-02F6-7790-2207E67C2412}"/>
              </a:ext>
            </a:extLst>
          </p:cNvPr>
          <p:cNvPicPr>
            <a:picLocks noChangeAspect="1"/>
          </p:cNvPicPr>
          <p:nvPr/>
        </p:nvPicPr>
        <p:blipFill>
          <a:blip r:embed="rId6">
            <a:extLst>
              <a:ext uri="{28A0092B-C50C-407E-A947-70E740481C1C}">
                <a14:useLocalDpi xmlns:a14="http://schemas.microsoft.com/office/drawing/2010/main" val="0"/>
              </a:ext>
            </a:extLst>
          </a:blip>
          <a:srcRect l="3270" r="1147" b="-1"/>
          <a:stretch/>
        </p:blipFill>
        <p:spPr bwMode="auto">
          <a:xfrm>
            <a:off x="186275" y="24843259"/>
            <a:ext cx="5660684" cy="4540462"/>
          </a:xfrm>
          <a:prstGeom prst="rect">
            <a:avLst/>
          </a:prstGeom>
          <a:noFill/>
          <a:ln w="12700">
            <a:miter lim="400000"/>
          </a:ln>
        </p:spPr>
      </p:pic>
      <p:pic>
        <p:nvPicPr>
          <p:cNvPr id="6" name="Picture 5">
            <a:extLst>
              <a:ext uri="{FF2B5EF4-FFF2-40B4-BE49-F238E27FC236}">
                <a16:creationId xmlns:a16="http://schemas.microsoft.com/office/drawing/2014/main" id="{DB4D1532-39D0-5187-5A21-FC0E5408BCF3}"/>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58484" y="24843259"/>
            <a:ext cx="5160113" cy="4687375"/>
          </a:xfrm>
          <a:prstGeom prst="rect">
            <a:avLst/>
          </a:prstGeom>
          <a:noFill/>
          <a:ln>
            <a:noFill/>
          </a:ln>
        </p:spPr>
      </p:pic>
      <p:pic>
        <p:nvPicPr>
          <p:cNvPr id="7" name="Picture 6">
            <a:extLst>
              <a:ext uri="{FF2B5EF4-FFF2-40B4-BE49-F238E27FC236}">
                <a16:creationId xmlns:a16="http://schemas.microsoft.com/office/drawing/2014/main" id="{2454EFA8-09E6-742B-6BA5-65DD0F176AE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1786709" y="20512276"/>
            <a:ext cx="9733554" cy="11093979"/>
          </a:xfrm>
          <a:prstGeom prst="rect">
            <a:avLst/>
          </a:prstGeom>
          <a:noFill/>
          <a:ln>
            <a:noFill/>
          </a:ln>
        </p:spPr>
      </p:pic>
      <p:pic>
        <p:nvPicPr>
          <p:cNvPr id="8" name="Picture 2" descr="ROS packages for your robotics application - Pilz US">
            <a:extLst>
              <a:ext uri="{FF2B5EF4-FFF2-40B4-BE49-F238E27FC236}">
                <a16:creationId xmlns:a16="http://schemas.microsoft.com/office/drawing/2014/main" id="{08FFC9BA-8B9B-51F5-6F3F-8FE87281D13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004390" y="26191689"/>
            <a:ext cx="1000663" cy="56154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Python (programming language) - Wikipedia">
            <a:extLst>
              <a:ext uri="{FF2B5EF4-FFF2-40B4-BE49-F238E27FC236}">
                <a16:creationId xmlns:a16="http://schemas.microsoft.com/office/drawing/2014/main" id="{121C898C-DA3E-7175-FD5F-9C401394261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6424903" y="19716063"/>
            <a:ext cx="652269" cy="7163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693CC90-F517-DB0F-0BE3-34650D15A7FA}"/>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9172974" y="22842889"/>
            <a:ext cx="814703" cy="611216"/>
          </a:xfrm>
          <a:prstGeom prst="rect">
            <a:avLst/>
          </a:prstGeom>
          <a:noFill/>
          <a:ln>
            <a:noFill/>
          </a:ln>
        </p:spPr>
      </p:pic>
      <p:pic>
        <p:nvPicPr>
          <p:cNvPr id="11" name="Picture 10">
            <a:extLst>
              <a:ext uri="{FF2B5EF4-FFF2-40B4-BE49-F238E27FC236}">
                <a16:creationId xmlns:a16="http://schemas.microsoft.com/office/drawing/2014/main" id="{B575DE3C-67EC-3072-4E71-4B0B89785221}"/>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8024690" y="22842887"/>
            <a:ext cx="814703" cy="611218"/>
          </a:xfrm>
          <a:prstGeom prst="rect">
            <a:avLst/>
          </a:prstGeom>
          <a:noFill/>
          <a:ln>
            <a:noFill/>
          </a:ln>
        </p:spPr>
      </p:pic>
      <p:pic>
        <p:nvPicPr>
          <p:cNvPr id="12" name="Picture 11" descr="Jackal UGV - Small Weatherproof Robot - Clearpath">
            <a:extLst>
              <a:ext uri="{FF2B5EF4-FFF2-40B4-BE49-F238E27FC236}">
                <a16:creationId xmlns:a16="http://schemas.microsoft.com/office/drawing/2014/main" id="{55EF4A1F-8BF1-5E7D-9A90-29DF35A6FC02}"/>
              </a:ext>
            </a:extLst>
          </p:cNvPr>
          <p:cNvPicPr>
            <a:picLocks noChangeAspect="1"/>
          </p:cNvPicPr>
          <p:nvPr/>
        </p:nvPicPr>
        <p:blipFill>
          <a:blip r:embed="rId13" cstate="print">
            <a:extLst>
              <a:ext uri="{28A0092B-C50C-407E-A947-70E740481C1C}">
                <a14:useLocalDpi xmlns:a14="http://schemas.microsoft.com/office/drawing/2010/main" val="0"/>
              </a:ext>
            </a:extLst>
          </a:blip>
          <a:srcRect l="3270" r="1147" b="-1"/>
          <a:stretch/>
        </p:blipFill>
        <p:spPr bwMode="auto">
          <a:xfrm>
            <a:off x="18508302" y="25892646"/>
            <a:ext cx="980879" cy="786768"/>
          </a:xfrm>
          <a:prstGeom prst="rect">
            <a:avLst/>
          </a:prstGeom>
          <a:noFill/>
          <a:ln w="12700">
            <a:miter lim="400000"/>
          </a:ln>
        </p:spPr>
      </p:pic>
      <p:pic>
        <p:nvPicPr>
          <p:cNvPr id="13" name="Picture 12" descr="A cartoon of a robot&#10;&#10;AI-generated content may be incorrect.">
            <a:extLst>
              <a:ext uri="{FF2B5EF4-FFF2-40B4-BE49-F238E27FC236}">
                <a16:creationId xmlns:a16="http://schemas.microsoft.com/office/drawing/2014/main" id="{E5F8AD19-7553-4F71-4D31-1463501B42F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4803727" y="30265142"/>
            <a:ext cx="1848791" cy="903095"/>
          </a:xfrm>
          <a:prstGeom prst="rect">
            <a:avLst/>
          </a:prstGeom>
        </p:spPr>
      </p:pic>
      <p:graphicFrame>
        <p:nvGraphicFramePr>
          <p:cNvPr id="15" name="Table 14">
            <a:extLst>
              <a:ext uri="{FF2B5EF4-FFF2-40B4-BE49-F238E27FC236}">
                <a16:creationId xmlns:a16="http://schemas.microsoft.com/office/drawing/2014/main" id="{083D9646-3E8C-44CF-0C0E-540053F3C310}"/>
              </a:ext>
            </a:extLst>
          </p:cNvPr>
          <p:cNvGraphicFramePr>
            <a:graphicFrameLocks noGrp="1"/>
          </p:cNvGraphicFramePr>
          <p:nvPr>
            <p:extLst>
              <p:ext uri="{D42A27DB-BD31-4B8C-83A1-F6EECF244321}">
                <p14:modId xmlns:p14="http://schemas.microsoft.com/office/powerpoint/2010/main" val="3877565244"/>
              </p:ext>
            </p:extLst>
          </p:nvPr>
        </p:nvGraphicFramePr>
        <p:xfrm>
          <a:off x="22819809" y="27525744"/>
          <a:ext cx="9906901" cy="3834833"/>
        </p:xfrm>
        <a:graphic>
          <a:graphicData uri="http://schemas.openxmlformats.org/drawingml/2006/table">
            <a:tbl>
              <a:tblPr/>
              <a:tblGrid>
                <a:gridCol w="1667288">
                  <a:extLst>
                    <a:ext uri="{9D8B030D-6E8A-4147-A177-3AD203B41FA5}">
                      <a16:colId xmlns:a16="http://schemas.microsoft.com/office/drawing/2014/main" val="471165794"/>
                    </a:ext>
                  </a:extLst>
                </a:gridCol>
                <a:gridCol w="1878103">
                  <a:extLst>
                    <a:ext uri="{9D8B030D-6E8A-4147-A177-3AD203B41FA5}">
                      <a16:colId xmlns:a16="http://schemas.microsoft.com/office/drawing/2014/main" val="20899016"/>
                    </a:ext>
                  </a:extLst>
                </a:gridCol>
                <a:gridCol w="2316480">
                  <a:extLst>
                    <a:ext uri="{9D8B030D-6E8A-4147-A177-3AD203B41FA5}">
                      <a16:colId xmlns:a16="http://schemas.microsoft.com/office/drawing/2014/main" val="631409117"/>
                    </a:ext>
                  </a:extLst>
                </a:gridCol>
                <a:gridCol w="1751428">
                  <a:extLst>
                    <a:ext uri="{9D8B030D-6E8A-4147-A177-3AD203B41FA5}">
                      <a16:colId xmlns:a16="http://schemas.microsoft.com/office/drawing/2014/main" val="733917723"/>
                    </a:ext>
                  </a:extLst>
                </a:gridCol>
                <a:gridCol w="2293602">
                  <a:extLst>
                    <a:ext uri="{9D8B030D-6E8A-4147-A177-3AD203B41FA5}">
                      <a16:colId xmlns:a16="http://schemas.microsoft.com/office/drawing/2014/main" val="4154187350"/>
                    </a:ext>
                  </a:extLst>
                </a:gridCol>
              </a:tblGrid>
              <a:tr h="544198">
                <a:tc rowSpan="2">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Task</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tc gridSpan="2">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GPT-4o</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tc hMerge="1">
                  <a:txBody>
                    <a:bodyPr/>
                    <a:lstStyle/>
                    <a:p>
                      <a:endParaRPr lang="en-US"/>
                    </a:p>
                  </a:txBody>
                  <a:tcPr/>
                </a:tc>
                <a:tc gridSpan="2">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GPT-4 Turbo</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tc hMerge="1">
                  <a:txBody>
                    <a:bodyPr/>
                    <a:lstStyle/>
                    <a:p>
                      <a:endParaRPr lang="en-US"/>
                    </a:p>
                  </a:txBody>
                  <a:tcPr/>
                </a:tc>
                <a:extLst>
                  <a:ext uri="{0D108BD9-81ED-4DB2-BD59-A6C34878D82A}">
                    <a16:rowId xmlns:a16="http://schemas.microsoft.com/office/drawing/2014/main" val="2996775149"/>
                  </a:ext>
                </a:extLst>
              </a:tr>
              <a:tr h="875480">
                <a:tc vMerge="1">
                  <a:txBody>
                    <a:bodyPr/>
                    <a:lstStyle/>
                    <a:p>
                      <a:endParaRPr lang="en-US"/>
                    </a:p>
                  </a:txBody>
                  <a:tcPr/>
                </a:tc>
                <a:tc>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Average Number of Rounds</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tc>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Average Number of Rounds When Successful</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tc>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Average Number of Rounds</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tc>
                  <a:txBody>
                    <a:bodyPr/>
                    <a:lstStyle/>
                    <a:p>
                      <a:pPr marL="0" marR="0" algn="ctr">
                        <a:lnSpc>
                          <a:spcPct val="107000"/>
                        </a:lnSpc>
                        <a:spcAft>
                          <a:spcPts val="600"/>
                        </a:spcAft>
                        <a:buNone/>
                      </a:pPr>
                      <a:r>
                        <a:rPr lang="en-US" sz="2600" dirty="0">
                          <a:solidFill>
                            <a:srgbClr val="1F3A4E"/>
                          </a:solidFill>
                          <a:effectLst/>
                          <a:latin typeface="Helvetica Neue" panose="020B0604020202020204" charset="0"/>
                          <a:ea typeface="Calibri" panose="020F0502020204030204" pitchFamily="34" charset="0"/>
                          <a:cs typeface="Calibri" panose="020F0502020204030204" pitchFamily="34" charset="0"/>
                        </a:rPr>
                        <a:t>Average Number of Rounds When Successful</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9DAF8"/>
                    </a:solidFill>
                  </a:tcPr>
                </a:tc>
                <a:extLst>
                  <a:ext uri="{0D108BD9-81ED-4DB2-BD59-A6C34878D82A}">
                    <a16:rowId xmlns:a16="http://schemas.microsoft.com/office/drawing/2014/main" val="957995805"/>
                  </a:ext>
                </a:extLst>
              </a:tr>
              <a:tr h="544198">
                <a:tc>
                  <a:txBody>
                    <a:bodyPr/>
                    <a:lstStyle/>
                    <a:p>
                      <a:pPr marL="0" marR="0" algn="l">
                        <a:lnSpc>
                          <a:spcPct val="107000"/>
                        </a:lnSpc>
                        <a:spcAft>
                          <a:spcPts val="600"/>
                        </a:spcAft>
                        <a:buNone/>
                      </a:pPr>
                      <a:r>
                        <a:rPr lang="en-US" sz="2600" b="1" dirty="0">
                          <a:solidFill>
                            <a:schemeClr val="tx1"/>
                          </a:solidFill>
                          <a:effectLst/>
                          <a:latin typeface="Helvetica Neue" panose="020B0604020202020204" charset="0"/>
                          <a:ea typeface="Calibri" panose="020F0502020204030204" pitchFamily="34" charset="0"/>
                          <a:cs typeface="Calibri" panose="020F0502020204030204" pitchFamily="34" charset="0"/>
                        </a:rPr>
                        <a:t>Grey-Orange</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13.3</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12.43</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7.2</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9</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extLst>
                  <a:ext uri="{0D108BD9-81ED-4DB2-BD59-A6C34878D82A}">
                    <a16:rowId xmlns:a16="http://schemas.microsoft.com/office/drawing/2014/main" val="1491441090"/>
                  </a:ext>
                </a:extLst>
              </a:tr>
              <a:tr h="774824">
                <a:tc>
                  <a:txBody>
                    <a:bodyPr/>
                    <a:lstStyle/>
                    <a:p>
                      <a:pPr marL="0" marR="0" algn="l">
                        <a:lnSpc>
                          <a:spcPct val="107000"/>
                        </a:lnSpc>
                        <a:spcAft>
                          <a:spcPts val="600"/>
                        </a:spcAft>
                        <a:buNone/>
                      </a:pPr>
                      <a:r>
                        <a:rPr lang="en-US" sz="2600" b="1" dirty="0">
                          <a:solidFill>
                            <a:schemeClr val="tx1"/>
                          </a:solidFill>
                          <a:effectLst/>
                          <a:latin typeface="Helvetica Neue" panose="020B0604020202020204" charset="0"/>
                          <a:ea typeface="Calibri" panose="020F0502020204030204" pitchFamily="34" charset="0"/>
                          <a:cs typeface="Calibri" panose="020F0502020204030204" pitchFamily="34" charset="0"/>
                        </a:rPr>
                        <a:t>Blue Pillar</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13.4</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7.2</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5</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tc>
                  <a:txBody>
                    <a:bodyPr/>
                    <a:lstStyle/>
                    <a:p>
                      <a:pPr marL="0" marR="0" algn="ctr">
                        <a:lnSpc>
                          <a:spcPct val="107000"/>
                        </a:lnSpc>
                        <a:spcAft>
                          <a:spcPts val="600"/>
                        </a:spcAft>
                        <a:buNone/>
                      </a:pPr>
                      <a:r>
                        <a:rPr lang="en-US" sz="2600" dirty="0">
                          <a:solidFill>
                            <a:schemeClr val="tx1"/>
                          </a:solidFill>
                          <a:effectLst/>
                          <a:latin typeface="Helvetica Neue" panose="020B0604020202020204" charset="0"/>
                          <a:ea typeface="Calibri" panose="020F0502020204030204" pitchFamily="34" charset="0"/>
                          <a:cs typeface="Calibri" panose="020F0502020204030204" pitchFamily="34" charset="0"/>
                        </a:rPr>
                        <a:t>3.67</a:t>
                      </a:r>
                    </a:p>
                  </a:txBody>
                  <a:tcPr marL="68580" marR="68580"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CFE2F3"/>
                    </a:solidFill>
                  </a:tcPr>
                </a:tc>
                <a:extLst>
                  <a:ext uri="{0D108BD9-81ED-4DB2-BD59-A6C34878D82A}">
                    <a16:rowId xmlns:a16="http://schemas.microsoft.com/office/drawing/2014/main" val="3747107631"/>
                  </a:ext>
                </a:extLst>
              </a:tr>
            </a:tbl>
          </a:graphicData>
        </a:graphic>
      </p:graphicFrame>
      <p:sp>
        <p:nvSpPr>
          <p:cNvPr id="4" name="Google Shape;45;p1">
            <a:extLst>
              <a:ext uri="{FF2B5EF4-FFF2-40B4-BE49-F238E27FC236}">
                <a16:creationId xmlns:a16="http://schemas.microsoft.com/office/drawing/2014/main" id="{99FD6E9F-4BE5-FE71-3524-6329C8E3B623}"/>
              </a:ext>
            </a:extLst>
          </p:cNvPr>
          <p:cNvSpPr txBox="1">
            <a:spLocks/>
          </p:cNvSpPr>
          <p:nvPr/>
        </p:nvSpPr>
        <p:spPr>
          <a:xfrm>
            <a:off x="22388804" y="12930710"/>
            <a:ext cx="10047000" cy="615600"/>
          </a:xfrm>
          <a:prstGeom prst="rect">
            <a:avLst/>
          </a:prstGeom>
          <a:solidFill>
            <a:srgbClr val="6FA8DC"/>
          </a:solidFill>
          <a:ln>
            <a:noFill/>
          </a:ln>
        </p:spPr>
        <p:txBody>
          <a:bodyPr spcFirstLastPara="1" wrap="square" lIns="91425" tIns="91425" rIns="91425" bIns="91425" anchor="ctr" anchorCtr="0">
            <a:spAutoFit/>
          </a:bodyPr>
          <a:lstStyle>
            <a:defPPr marR="0" lvl="0" algn="l" rtl="0">
              <a:lnSpc>
                <a:spcPct val="100000"/>
              </a:lnSpc>
              <a:spcBef>
                <a:spcPts val="0"/>
              </a:spcBef>
              <a:spcAft>
                <a:spcPts val="0"/>
              </a:spcAft>
            </a:defPPr>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lgn="ctr">
              <a:spcBef>
                <a:spcPts val="0"/>
              </a:spcBef>
            </a:pPr>
            <a:r>
              <a:rPr lang="en-US" dirty="0"/>
              <a:t>Results</a:t>
            </a:r>
          </a:p>
        </p:txBody>
      </p:sp>
      <p:sp>
        <p:nvSpPr>
          <p:cNvPr id="17" name="Google Shape;45;p1">
            <a:extLst>
              <a:ext uri="{FF2B5EF4-FFF2-40B4-BE49-F238E27FC236}">
                <a16:creationId xmlns:a16="http://schemas.microsoft.com/office/drawing/2014/main" id="{D58F421B-DC32-6914-A1BC-C20749C80243}"/>
              </a:ext>
            </a:extLst>
          </p:cNvPr>
          <p:cNvSpPr txBox="1">
            <a:spLocks/>
          </p:cNvSpPr>
          <p:nvPr/>
        </p:nvSpPr>
        <p:spPr>
          <a:xfrm>
            <a:off x="11342400" y="14589507"/>
            <a:ext cx="10047000" cy="615600"/>
          </a:xfrm>
          <a:prstGeom prst="rect">
            <a:avLst/>
          </a:prstGeom>
          <a:solidFill>
            <a:srgbClr val="6FA8DC"/>
          </a:solidFill>
          <a:ln>
            <a:noFill/>
          </a:ln>
        </p:spPr>
        <p:txBody>
          <a:bodyPr spcFirstLastPara="1" wrap="square" lIns="91425" tIns="91425" rIns="91425" bIns="91425" anchor="ctr" anchorCtr="0">
            <a:spAutoFit/>
          </a:bodyPr>
          <a:lstStyle>
            <a:defPPr marR="0" lvl="0" algn="l" rtl="0">
              <a:lnSpc>
                <a:spcPct val="100000"/>
              </a:lnSpc>
              <a:spcBef>
                <a:spcPts val="0"/>
              </a:spcBef>
              <a:spcAft>
                <a:spcPts val="0"/>
              </a:spcAft>
            </a:defPPr>
            <a:lvl1pPr marL="457200" marR="0" lvl="0" indent="-228600" algn="l" rtl="0">
              <a:lnSpc>
                <a:spcPct val="100000"/>
              </a:lnSpc>
              <a:spcBef>
                <a:spcPts val="560"/>
              </a:spcBef>
              <a:spcAft>
                <a:spcPts val="0"/>
              </a:spcAft>
              <a:buClr>
                <a:schemeClr val="lt1"/>
              </a:buClr>
              <a:buSzPts val="2800"/>
              <a:buFont typeface="Arial"/>
              <a:buNone/>
              <a:defRPr sz="2800" b="1" i="0" u="none" strike="noStrike" cap="none">
                <a:solidFill>
                  <a:schemeClr val="lt1"/>
                </a:solidFill>
                <a:latin typeface="Helvetica Neue"/>
                <a:ea typeface="Helvetica Neue"/>
                <a:cs typeface="Helvetica Neue"/>
                <a:sym typeface="Helvetica Neue"/>
              </a:defRPr>
            </a:lvl1pPr>
            <a:lvl2pPr marL="914400" marR="0" lvl="1" indent="-1085850" algn="l" rtl="0">
              <a:lnSpc>
                <a:spcPct val="100000"/>
              </a:lnSpc>
              <a:spcBef>
                <a:spcPts val="2700"/>
              </a:spcBef>
              <a:spcAft>
                <a:spcPts val="0"/>
              </a:spcAft>
              <a:buClr>
                <a:schemeClr val="dk1"/>
              </a:buClr>
              <a:buSzPts val="13500"/>
              <a:buFont typeface="Arial"/>
              <a:buChar char="–"/>
              <a:defRPr sz="13500" b="0" i="0" u="none" strike="noStrike" cap="none">
                <a:solidFill>
                  <a:schemeClr val="dk1"/>
                </a:solidFill>
                <a:latin typeface="Calibri"/>
                <a:ea typeface="Calibri"/>
                <a:cs typeface="Calibri"/>
                <a:sym typeface="Calibri"/>
              </a:defRPr>
            </a:lvl2pPr>
            <a:lvl3pPr marL="1371600" marR="0" lvl="2" indent="-965200" algn="l" rtl="0">
              <a:lnSpc>
                <a:spcPct val="100000"/>
              </a:lnSpc>
              <a:spcBef>
                <a:spcPts val="2320"/>
              </a:spcBef>
              <a:spcAft>
                <a:spcPts val="0"/>
              </a:spcAft>
              <a:buClr>
                <a:schemeClr val="dk1"/>
              </a:buClr>
              <a:buSzPts val="11600"/>
              <a:buFont typeface="Arial"/>
              <a:buChar char="•"/>
              <a:defRPr sz="11600" b="0" i="0" u="none" strike="noStrike" cap="none">
                <a:solidFill>
                  <a:schemeClr val="dk1"/>
                </a:solidFill>
                <a:latin typeface="Calibri"/>
                <a:ea typeface="Calibri"/>
                <a:cs typeface="Calibri"/>
                <a:sym typeface="Calibri"/>
              </a:defRPr>
            </a:lvl3pPr>
            <a:lvl4pPr marL="1828800" marR="0" lvl="3"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4pPr>
            <a:lvl5pPr marL="2286000" marR="0" lvl="4"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0" indent="0" algn="ctr">
              <a:spcBef>
                <a:spcPts val="0"/>
              </a:spcBef>
            </a:pPr>
            <a:r>
              <a:rPr lang="en-US" dirty="0"/>
              <a:t>Method</a:t>
            </a:r>
          </a:p>
        </p:txBody>
      </p:sp>
      <p:sp>
        <p:nvSpPr>
          <p:cNvPr id="18" name="Google Shape;46;p1">
            <a:extLst>
              <a:ext uri="{FF2B5EF4-FFF2-40B4-BE49-F238E27FC236}">
                <a16:creationId xmlns:a16="http://schemas.microsoft.com/office/drawing/2014/main" id="{275D29AC-A2AE-3213-623E-F769E126D0B3}"/>
              </a:ext>
            </a:extLst>
          </p:cNvPr>
          <p:cNvSpPr txBox="1">
            <a:spLocks/>
          </p:cNvSpPr>
          <p:nvPr/>
        </p:nvSpPr>
        <p:spPr>
          <a:xfrm>
            <a:off x="11337300" y="15323166"/>
            <a:ext cx="10052100" cy="3908712"/>
          </a:xfrm>
          <a:prstGeom prst="rect">
            <a:avLst/>
          </a:prstGeom>
          <a:solidFill>
            <a:srgbClr val="EFEFEF"/>
          </a:solidFill>
          <a:ln>
            <a:noFill/>
          </a:ln>
        </p:spPr>
        <p:txBody>
          <a:bodyPr spcFirstLastPara="1" wrap="square" lIns="228575" tIns="228575" rIns="228575" bIns="228575"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560"/>
              </a:spcBef>
              <a:spcAft>
                <a:spcPts val="0"/>
              </a:spcAft>
              <a:buClr>
                <a:schemeClr val="dk2"/>
              </a:buClr>
              <a:buSzPts val="2800"/>
              <a:buFont typeface="Arial"/>
              <a:buNone/>
              <a:defRPr sz="2800" b="0" i="0" u="none" strike="noStrike" cap="none">
                <a:solidFill>
                  <a:schemeClr val="dk2"/>
                </a:solidFill>
                <a:latin typeface="Helvetica Neue"/>
                <a:ea typeface="Helvetica Neue"/>
                <a:cs typeface="Helvetica Neue"/>
                <a:sym typeface="Helvetica Neue"/>
              </a:defRPr>
            </a:lvl1pPr>
            <a:lvl2pPr marL="914400" marR="0" lvl="1"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lnSpc>
                <a:spcPct val="100000"/>
              </a:lnSpc>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6pPr>
            <a:lvl7pPr marL="3200400" marR="0" lvl="6"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7pPr>
            <a:lvl8pPr marL="3657600" marR="0" lvl="7"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8pPr>
            <a:lvl9pPr marL="4114800" marR="0" lvl="8" indent="-838200" algn="l" rtl="0">
              <a:lnSpc>
                <a:spcPct val="100000"/>
              </a:lnSpc>
              <a:spcBef>
                <a:spcPts val="192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9pPr>
          </a:lstStyle>
          <a:p>
            <a:pPr marL="285750" marR="0" lvl="0" indent="-28575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Python framework manages interface between simulated robot and LLM </a:t>
            </a:r>
          </a:p>
          <a:p>
            <a:pPr marL="285750" marR="0" lvl="0" indent="-28575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ROS captures camera view and LIDAR data at each step </a:t>
            </a:r>
          </a:p>
          <a:p>
            <a:pPr marL="285750" marR="0" lvl="0" indent="-285750" algn="l" defTabSz="914400" rtl="0" eaLnBrk="0" fontAlgn="base" latinLnBrk="0" hangingPunct="0">
              <a:lnSpc>
                <a:spcPct val="100000"/>
              </a:lnSpc>
              <a:spcBef>
                <a:spcPct val="0"/>
              </a:spcBef>
              <a:spcAft>
                <a:spcPct val="0"/>
              </a:spcAft>
              <a:buClrTx/>
              <a:buSzPct val="150000"/>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LLM processes visual inputs with instructions, returning JSON</a:t>
            </a:r>
          </a:p>
          <a:p>
            <a:pPr marL="285750" indent="-285750" eaLnBrk="0" fontAlgn="base" hangingPunct="0">
              <a:spcBef>
                <a:spcPct val="0"/>
              </a:spcBef>
              <a:spcAft>
                <a:spcPct val="0"/>
              </a:spcAft>
              <a:buClrTx/>
              <a:buSzPct val="150000"/>
              <a:buFont typeface="Arial" panose="020B0604020202020204" pitchFamily="34" charset="0"/>
              <a:buChar char="•"/>
            </a:pPr>
            <a:r>
              <a:rPr kumimoji="0" lang="en-US" altLang="en-US"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Python controller executes movement commands </a:t>
            </a:r>
          </a:p>
          <a:p>
            <a:pPr marL="285750" indent="-285750" eaLnBrk="0" fontAlgn="base" hangingPunct="0">
              <a:spcBef>
                <a:spcPct val="0"/>
              </a:spcBef>
              <a:spcAft>
                <a:spcPct val="0"/>
              </a:spcAft>
              <a:buClrTx/>
              <a:buSzPct val="150000"/>
              <a:buFont typeface="Arial" panose="020B0604020202020204" pitchFamily="34" charset="0"/>
              <a:buChar char="•"/>
            </a:pPr>
            <a:r>
              <a:rPr kumimoji="0" lang="en-US" altLang="en-US" b="0" i="0" u="none" strike="noStrike" cap="none" normalizeH="0" baseline="0" dirty="0">
                <a:ln>
                  <a:noFill/>
                </a:ln>
                <a:solidFill>
                  <a:schemeClr val="tx1"/>
                </a:solidFill>
                <a:effectLst/>
                <a:latin typeface="Helvetica Neue" panose="020B0604020202020204" charset="0"/>
                <a:ea typeface="Calibri" panose="020F0502020204030204" pitchFamily="34" charset="0"/>
                <a:cs typeface="Calibri" panose="020F0502020204030204" pitchFamily="34" charset="0"/>
              </a:rPr>
              <a:t>System recaptures sensor data after movement if goal not reached </a:t>
            </a:r>
          </a:p>
        </p:txBody>
      </p:sp>
      <p:sp>
        <p:nvSpPr>
          <p:cNvPr id="2" name="TextBox 1">
            <a:extLst>
              <a:ext uri="{FF2B5EF4-FFF2-40B4-BE49-F238E27FC236}">
                <a16:creationId xmlns:a16="http://schemas.microsoft.com/office/drawing/2014/main" id="{F075ED01-E902-4950-3F18-793CA8E616A8}"/>
              </a:ext>
            </a:extLst>
          </p:cNvPr>
          <p:cNvSpPr txBox="1"/>
          <p:nvPr/>
        </p:nvSpPr>
        <p:spPr>
          <a:xfrm>
            <a:off x="875321" y="30067915"/>
            <a:ext cx="9943276" cy="1292662"/>
          </a:xfrm>
          <a:prstGeom prst="rect">
            <a:avLst/>
          </a:prstGeom>
          <a:solidFill>
            <a:srgbClr val="EFEFEF"/>
          </a:solidFill>
        </p:spPr>
        <p:txBody>
          <a:bodyPr wrap="square" rtlCol="0">
            <a:spAutoFit/>
          </a:bodyPr>
          <a:lstStyle/>
          <a:p>
            <a:r>
              <a:rPr lang="en-US" sz="2600" b="1" dirty="0">
                <a:latin typeface="Helvetica Neue" panose="02000503000000020004" pitchFamily="2" charset="0"/>
                <a:ea typeface="Helvetica Neue" panose="02000503000000020004" pitchFamily="2" charset="0"/>
                <a:cs typeface="Helvetica Neue" panose="02000503000000020004" pitchFamily="2" charset="0"/>
              </a:rPr>
              <a:t>*</a:t>
            </a:r>
            <a:r>
              <a:rPr lang="en-US" sz="2600" dirty="0">
                <a:latin typeface="Helvetica Neue" panose="02000503000000020004" pitchFamily="2" charset="0"/>
                <a:ea typeface="Helvetica Neue" panose="02000503000000020004" pitchFamily="2" charset="0"/>
                <a:cs typeface="Helvetica Neue" panose="02000503000000020004" pitchFamily="2" charset="0"/>
              </a:rPr>
              <a:t>Our conclusions are based on the evidence we've gathered. Since the models are not open source, we acknowledge that our analysis involves some degree of informed speculation.</a:t>
            </a:r>
          </a:p>
        </p:txBody>
      </p:sp>
    </p:spTree>
  </p:cSld>
  <p:clrMapOvr>
    <a:masterClrMapping/>
  </p:clrMapOvr>
</p:sld>
</file>

<file path=ppt/theme/theme1.xml><?xml version="1.0" encoding="utf-8"?>
<a:theme xmlns:a="http://schemas.openxmlformats.org/drawingml/2006/main" name="36x48-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276ed57-3345-40ee-a915-cf6ee4e0446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E251261C49DE44BD1D71F61AA4BB45" ma:contentTypeVersion="9" ma:contentTypeDescription="Create a new document." ma:contentTypeScope="" ma:versionID="52032470bb2c83fc1622241a43ecb501">
  <xsd:schema xmlns:xsd="http://www.w3.org/2001/XMLSchema" xmlns:xs="http://www.w3.org/2001/XMLSchema" xmlns:p="http://schemas.microsoft.com/office/2006/metadata/properties" xmlns:ns3="1276ed57-3345-40ee-a915-cf6ee4e04469" xmlns:ns4="e8964da6-bfd1-478d-bb0b-e9fea014afe6" targetNamespace="http://schemas.microsoft.com/office/2006/metadata/properties" ma:root="true" ma:fieldsID="e1f9b6291b1caeb04e16553ccacc20ff" ns3:_="" ns4:_="">
    <xsd:import namespace="1276ed57-3345-40ee-a915-cf6ee4e04469"/>
    <xsd:import namespace="e8964da6-bfd1-478d-bb0b-e9fea014afe6"/>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76ed57-3345-40ee-a915-cf6ee4e0446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964da6-bfd1-478d-bb0b-e9fea014afe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830253-47FD-4931-89B9-415E7497FF77}">
  <ds:schemaRefs>
    <ds:schemaRef ds:uri="http://schemas.microsoft.com/sharepoint/v3/contenttype/forms"/>
  </ds:schemaRefs>
</ds:datastoreItem>
</file>

<file path=customXml/itemProps2.xml><?xml version="1.0" encoding="utf-8"?>
<ds:datastoreItem xmlns:ds="http://schemas.openxmlformats.org/officeDocument/2006/customXml" ds:itemID="{DF4469CB-83DD-4A8F-AE02-D11B6E293B2B}">
  <ds:schemaRefs>
    <ds:schemaRef ds:uri="http://schemas.microsoft.com/office/2006/documentManagement/types"/>
    <ds:schemaRef ds:uri="http://purl.org/dc/dcmitype/"/>
    <ds:schemaRef ds:uri="http://purl.org/dc/elements/1.1/"/>
    <ds:schemaRef ds:uri="e8964da6-bfd1-478d-bb0b-e9fea014afe6"/>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1276ed57-3345-40ee-a915-cf6ee4e04469"/>
    <ds:schemaRef ds:uri="http://purl.org/dc/terms/"/>
  </ds:schemaRefs>
</ds:datastoreItem>
</file>

<file path=customXml/itemProps3.xml><?xml version="1.0" encoding="utf-8"?>
<ds:datastoreItem xmlns:ds="http://schemas.openxmlformats.org/officeDocument/2006/customXml" ds:itemID="{0F7E0D3A-26B0-4614-A62E-F789F13EC8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76ed57-3345-40ee-a915-cf6ee4e04469"/>
    <ds:schemaRef ds:uri="e8964da6-bfd1-478d-bb0b-e9fea014af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202</TotalTime>
  <Words>1015</Words>
  <Application>Microsoft Macintosh PowerPoint</Application>
  <PresentationFormat>Custom</PresentationFormat>
  <Paragraphs>84</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Helvetica Neue</vt:lpstr>
      <vt:lpstr>Arial</vt:lpstr>
      <vt:lpstr>Helvetica Neue Light</vt:lpstr>
      <vt:lpstr>Trebuchet MS</vt:lpstr>
      <vt:lpstr>Calibri</vt:lpstr>
      <vt:lpstr>Wingdings</vt:lpstr>
      <vt:lpstr>Arial Black</vt:lpstr>
      <vt:lpstr>36x48-Template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Chandra, Mr. Chinmay</cp:lastModifiedBy>
  <cp:revision>129</cp:revision>
  <dcterms:modified xsi:type="dcterms:W3CDTF">2025-04-24T18:19:50Z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0x01010046E251261C49DE44BD1D71F61AA4BB45</vt:lpwstr>
  </property>
</Properties>
</file>